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TAN Ashford" charset="1" panose="00000000000000000000"/>
      <p:regular r:id="rId22"/>
    </p:embeddedFont>
    <p:embeddedFont>
      <p:font typeface="Times New Roman Bold" charset="1" panose="02020803070505020304"/>
      <p:regular r:id="rId23"/>
    </p:embeddedFont>
    <p:embeddedFont>
      <p:font typeface="Times New Roman" charset="1" panose="02020603050405020304"/>
      <p:regular r:id="rId24"/>
    </p:embeddedFont>
    <p:embeddedFont>
      <p:font typeface="Roboto Bold" charset="1" panose="0200000000000000000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3.png" Type="http://schemas.openxmlformats.org/officeDocument/2006/relationships/image"/><Relationship Id="rId4" Target="../media/image14.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20.png" Type="http://schemas.openxmlformats.org/officeDocument/2006/relationships/image"/><Relationship Id="rId5" Target="../media/image21.png" Type="http://schemas.openxmlformats.org/officeDocument/2006/relationships/image"/><Relationship Id="rId6" Target="../media/image2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23.png" Type="http://schemas.openxmlformats.org/officeDocument/2006/relationships/image"/><Relationship Id="rId5" Target="../media/image24.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25.png" Type="http://schemas.openxmlformats.org/officeDocument/2006/relationships/image"/><Relationship Id="rId4" Target="../media/image26.svg" Type="http://schemas.openxmlformats.org/officeDocument/2006/relationships/image"/><Relationship Id="rId5" Target="../media/image27.png" Type="http://schemas.openxmlformats.org/officeDocument/2006/relationships/image"/><Relationship Id="rId6" Target="../media/image28.svg" Type="http://schemas.openxmlformats.org/officeDocument/2006/relationships/image"/><Relationship Id="rId7" Target="../media/image2.png" Type="http://schemas.openxmlformats.org/officeDocument/2006/relationships/image"/><Relationship Id="rId8" Target="../media/image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BE1"/>
        </a:solidFill>
      </p:bgPr>
    </p:bg>
    <p:spTree>
      <p:nvGrpSpPr>
        <p:cNvPr id="1" name=""/>
        <p:cNvGrpSpPr/>
        <p:nvPr/>
      </p:nvGrpSpPr>
      <p:grpSpPr>
        <a:xfrm>
          <a:off x="0" y="0"/>
          <a:ext cx="0" cy="0"/>
          <a:chOff x="0" y="0"/>
          <a:chExt cx="0" cy="0"/>
        </a:xfrm>
      </p:grpSpPr>
      <p:grpSp>
        <p:nvGrpSpPr>
          <p:cNvPr name="Group 2" id="2"/>
          <p:cNvGrpSpPr/>
          <p:nvPr/>
        </p:nvGrpSpPr>
        <p:grpSpPr>
          <a:xfrm rot="0">
            <a:off x="7508328" y="178151"/>
            <a:ext cx="1635672" cy="850549"/>
            <a:chOff x="0" y="0"/>
            <a:chExt cx="4215167" cy="2191887"/>
          </a:xfrm>
        </p:grpSpPr>
        <p:sp>
          <p:nvSpPr>
            <p:cNvPr name="Freeform 3" id="3"/>
            <p:cNvSpPr/>
            <p:nvPr/>
          </p:nvSpPr>
          <p:spPr>
            <a:xfrm flipH="false" flipV="false" rot="0">
              <a:off x="0" y="0"/>
              <a:ext cx="4215130" cy="2191893"/>
            </a:xfrm>
            <a:custGeom>
              <a:avLst/>
              <a:gdLst/>
              <a:ahLst/>
              <a:cxnLst/>
              <a:rect r="r" b="b" t="t" l="l"/>
              <a:pathLst>
                <a:path h="2191893" w="4215130">
                  <a:moveTo>
                    <a:pt x="0" y="0"/>
                  </a:moveTo>
                  <a:lnTo>
                    <a:pt x="4215130" y="0"/>
                  </a:lnTo>
                  <a:lnTo>
                    <a:pt x="4215130" y="2191893"/>
                  </a:lnTo>
                  <a:lnTo>
                    <a:pt x="0" y="2191893"/>
                  </a:lnTo>
                  <a:lnTo>
                    <a:pt x="0" y="0"/>
                  </a:lnTo>
                  <a:close/>
                </a:path>
              </a:pathLst>
            </a:custGeom>
            <a:blipFill>
              <a:blip r:embed="rId2"/>
              <a:stretch>
                <a:fillRect l="0" t="0" r="0" b="0"/>
              </a:stretch>
            </a:blipFill>
          </p:spPr>
        </p:sp>
      </p:grpSp>
      <p:sp>
        <p:nvSpPr>
          <p:cNvPr name="Freeform 4" id="4"/>
          <p:cNvSpPr/>
          <p:nvPr/>
        </p:nvSpPr>
        <p:spPr>
          <a:xfrm flipH="false" flipV="false" rot="-1420706">
            <a:off x="15747053" y="-637573"/>
            <a:ext cx="3673457" cy="6679012"/>
          </a:xfrm>
          <a:custGeom>
            <a:avLst/>
            <a:gdLst/>
            <a:ahLst/>
            <a:cxnLst/>
            <a:rect r="r" b="b" t="t" l="l"/>
            <a:pathLst>
              <a:path h="6679012" w="3673457">
                <a:moveTo>
                  <a:pt x="0" y="0"/>
                </a:moveTo>
                <a:lnTo>
                  <a:pt x="3673457" y="0"/>
                </a:lnTo>
                <a:lnTo>
                  <a:pt x="3673457" y="6679013"/>
                </a:lnTo>
                <a:lnTo>
                  <a:pt x="0" y="667901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9272054" y="178151"/>
            <a:ext cx="882909" cy="850549"/>
          </a:xfrm>
          <a:custGeom>
            <a:avLst/>
            <a:gdLst/>
            <a:ahLst/>
            <a:cxnLst/>
            <a:rect r="r" b="b" t="t" l="l"/>
            <a:pathLst>
              <a:path h="850549" w="882909">
                <a:moveTo>
                  <a:pt x="0" y="0"/>
                </a:moveTo>
                <a:lnTo>
                  <a:pt x="882910" y="0"/>
                </a:lnTo>
                <a:lnTo>
                  <a:pt x="882910" y="850549"/>
                </a:lnTo>
                <a:lnTo>
                  <a:pt x="0" y="850549"/>
                </a:lnTo>
                <a:lnTo>
                  <a:pt x="0" y="0"/>
                </a:lnTo>
                <a:close/>
              </a:path>
            </a:pathLst>
          </a:custGeom>
          <a:blipFill>
            <a:blip r:embed="rId5"/>
            <a:stretch>
              <a:fillRect l="-19587" t="-13450" r="-2661" b="-13450"/>
            </a:stretch>
          </a:blipFill>
        </p:spPr>
      </p:sp>
      <p:sp>
        <p:nvSpPr>
          <p:cNvPr name="Freeform 6" id="6"/>
          <p:cNvSpPr/>
          <p:nvPr/>
        </p:nvSpPr>
        <p:spPr>
          <a:xfrm flipH="false" flipV="false" rot="0">
            <a:off x="4495766" y="3769636"/>
            <a:ext cx="9552577" cy="1779167"/>
          </a:xfrm>
          <a:custGeom>
            <a:avLst/>
            <a:gdLst/>
            <a:ahLst/>
            <a:cxnLst/>
            <a:rect r="r" b="b" t="t" l="l"/>
            <a:pathLst>
              <a:path h="1779167" w="9552577">
                <a:moveTo>
                  <a:pt x="0" y="0"/>
                </a:moveTo>
                <a:lnTo>
                  <a:pt x="9552577" y="0"/>
                </a:lnTo>
                <a:lnTo>
                  <a:pt x="9552577" y="1779167"/>
                </a:lnTo>
                <a:lnTo>
                  <a:pt x="0" y="1779167"/>
                </a:lnTo>
                <a:lnTo>
                  <a:pt x="0" y="0"/>
                </a:lnTo>
                <a:close/>
              </a:path>
            </a:pathLst>
          </a:custGeom>
          <a:blipFill>
            <a:blip r:embed="rId6"/>
            <a:stretch>
              <a:fillRect l="0" t="0" r="0" b="0"/>
            </a:stretch>
          </a:blipFill>
        </p:spPr>
      </p:sp>
      <p:sp>
        <p:nvSpPr>
          <p:cNvPr name="TextBox 7" id="7"/>
          <p:cNvSpPr txBox="true"/>
          <p:nvPr/>
        </p:nvSpPr>
        <p:spPr>
          <a:xfrm rot="0">
            <a:off x="3345444" y="1826903"/>
            <a:ext cx="11853221" cy="2153285"/>
          </a:xfrm>
          <a:prstGeom prst="rect">
            <a:avLst/>
          </a:prstGeom>
        </p:spPr>
        <p:txBody>
          <a:bodyPr anchor="t" rtlCol="false" tIns="0" lIns="0" bIns="0" rIns="0">
            <a:spAutoFit/>
          </a:bodyPr>
          <a:lstStyle/>
          <a:p>
            <a:pPr algn="ctr">
              <a:lnSpc>
                <a:spcPts val="5459"/>
              </a:lnSpc>
            </a:pPr>
            <a:r>
              <a:rPr lang="en-US" sz="3899">
                <a:solidFill>
                  <a:srgbClr val="992800"/>
                </a:solidFill>
                <a:latin typeface="TAN Ashford"/>
                <a:ea typeface="TAN Ashford"/>
                <a:cs typeface="TAN Ashford"/>
                <a:sym typeface="TAN Ashford"/>
              </a:rPr>
              <a:t>Database Management System Lab</a:t>
            </a:r>
          </a:p>
          <a:p>
            <a:pPr algn="ctr">
              <a:lnSpc>
                <a:spcPts val="2326"/>
              </a:lnSpc>
            </a:pPr>
          </a:p>
          <a:p>
            <a:pPr algn="ctr">
              <a:lnSpc>
                <a:spcPts val="3919"/>
              </a:lnSpc>
              <a:spcBef>
                <a:spcPct val="0"/>
              </a:spcBef>
            </a:pPr>
            <a:r>
              <a:rPr lang="en-US" sz="2799">
                <a:solidFill>
                  <a:srgbClr val="058789"/>
                </a:solidFill>
                <a:latin typeface="TAN Ashford"/>
                <a:ea typeface="TAN Ashford"/>
                <a:cs typeface="TAN Ashford"/>
                <a:sym typeface="TAN Ashford"/>
              </a:rPr>
              <a:t>0612-304</a:t>
            </a:r>
          </a:p>
        </p:txBody>
      </p:sp>
      <p:sp>
        <p:nvSpPr>
          <p:cNvPr name="Freeform 8" id="8"/>
          <p:cNvSpPr/>
          <p:nvPr/>
        </p:nvSpPr>
        <p:spPr>
          <a:xfrm flipH="false" flipV="false" rot="-1346323">
            <a:off x="166977" y="323329"/>
            <a:ext cx="3109924" cy="2695373"/>
          </a:xfrm>
          <a:custGeom>
            <a:avLst/>
            <a:gdLst/>
            <a:ahLst/>
            <a:cxnLst/>
            <a:rect r="r" b="b" t="t" l="l"/>
            <a:pathLst>
              <a:path h="2695373" w="3109924">
                <a:moveTo>
                  <a:pt x="0" y="0"/>
                </a:moveTo>
                <a:lnTo>
                  <a:pt x="3109923" y="0"/>
                </a:lnTo>
                <a:lnTo>
                  <a:pt x="3109923" y="2695373"/>
                </a:lnTo>
                <a:lnTo>
                  <a:pt x="0" y="2695373"/>
                </a:lnTo>
                <a:lnTo>
                  <a:pt x="0" y="0"/>
                </a:lnTo>
                <a:close/>
              </a:path>
            </a:pathLst>
          </a:custGeom>
          <a:blipFill>
            <a:blip r:embed="rId7"/>
            <a:stretch>
              <a:fillRect l="-170" t="0" r="-170" b="0"/>
            </a:stretch>
          </a:blipFill>
        </p:spPr>
      </p:sp>
      <p:grpSp>
        <p:nvGrpSpPr>
          <p:cNvPr name="Group 9" id="9"/>
          <p:cNvGrpSpPr/>
          <p:nvPr/>
        </p:nvGrpSpPr>
        <p:grpSpPr>
          <a:xfrm rot="0">
            <a:off x="1028700" y="5818811"/>
            <a:ext cx="6185473" cy="3680121"/>
            <a:chOff x="0" y="0"/>
            <a:chExt cx="8247298" cy="4906828"/>
          </a:xfrm>
        </p:grpSpPr>
        <p:sp>
          <p:nvSpPr>
            <p:cNvPr name="Freeform 10" id="10"/>
            <p:cNvSpPr/>
            <p:nvPr/>
          </p:nvSpPr>
          <p:spPr>
            <a:xfrm flipH="false" flipV="false" rot="0">
              <a:off x="27696" y="0"/>
              <a:ext cx="5963765" cy="909474"/>
            </a:xfrm>
            <a:custGeom>
              <a:avLst/>
              <a:gdLst/>
              <a:ahLst/>
              <a:cxnLst/>
              <a:rect r="r" b="b" t="t" l="l"/>
              <a:pathLst>
                <a:path h="909474" w="5963765">
                  <a:moveTo>
                    <a:pt x="0" y="0"/>
                  </a:moveTo>
                  <a:lnTo>
                    <a:pt x="5963765" y="0"/>
                  </a:lnTo>
                  <a:lnTo>
                    <a:pt x="5963765" y="909474"/>
                  </a:lnTo>
                  <a:lnTo>
                    <a:pt x="0" y="90947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1" id="11"/>
            <p:cNvSpPr txBox="true"/>
            <p:nvPr/>
          </p:nvSpPr>
          <p:spPr>
            <a:xfrm rot="0">
              <a:off x="27696" y="195800"/>
              <a:ext cx="4491646" cy="440818"/>
            </a:xfrm>
            <a:prstGeom prst="rect">
              <a:avLst/>
            </a:prstGeom>
          </p:spPr>
          <p:txBody>
            <a:bodyPr anchor="t" rtlCol="false" tIns="0" lIns="0" bIns="0" rIns="0">
              <a:spAutoFit/>
            </a:bodyPr>
            <a:lstStyle/>
            <a:p>
              <a:pPr algn="l">
                <a:lnSpc>
                  <a:spcPts val="2921"/>
                </a:lnSpc>
                <a:spcBef>
                  <a:spcPct val="0"/>
                </a:spcBef>
              </a:pPr>
              <a:r>
                <a:rPr lang="en-US" sz="1947">
                  <a:solidFill>
                    <a:srgbClr val="F0E8DB"/>
                  </a:solidFill>
                  <a:latin typeface="TAN Ashford"/>
                  <a:ea typeface="TAN Ashford"/>
                  <a:cs typeface="TAN Ashford"/>
                  <a:sym typeface="TAN Ashford"/>
                </a:rPr>
                <a:t>   PRESENTED BY</a:t>
              </a:r>
            </a:p>
          </p:txBody>
        </p:sp>
        <p:sp>
          <p:nvSpPr>
            <p:cNvPr name="Freeform 12" id="12"/>
            <p:cNvSpPr/>
            <p:nvPr/>
          </p:nvSpPr>
          <p:spPr>
            <a:xfrm flipH="false" flipV="false" rot="0">
              <a:off x="0" y="1127125"/>
              <a:ext cx="682916" cy="686347"/>
            </a:xfrm>
            <a:custGeom>
              <a:avLst/>
              <a:gdLst/>
              <a:ahLst/>
              <a:cxnLst/>
              <a:rect r="r" b="b" t="t" l="l"/>
              <a:pathLst>
                <a:path h="686347" w="682916">
                  <a:moveTo>
                    <a:pt x="0" y="0"/>
                  </a:moveTo>
                  <a:lnTo>
                    <a:pt x="682916" y="0"/>
                  </a:lnTo>
                  <a:lnTo>
                    <a:pt x="682916" y="686347"/>
                  </a:lnTo>
                  <a:lnTo>
                    <a:pt x="0" y="68634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3" id="13"/>
            <p:cNvSpPr txBox="true"/>
            <p:nvPr/>
          </p:nvSpPr>
          <p:spPr>
            <a:xfrm rot="0">
              <a:off x="834773" y="1241618"/>
              <a:ext cx="7412525" cy="435053"/>
            </a:xfrm>
            <a:prstGeom prst="rect">
              <a:avLst/>
            </a:prstGeom>
          </p:spPr>
          <p:txBody>
            <a:bodyPr anchor="t" rtlCol="false" tIns="0" lIns="0" bIns="0" rIns="0">
              <a:spAutoFit/>
            </a:bodyPr>
            <a:lstStyle/>
            <a:p>
              <a:pPr algn="ctr">
                <a:lnSpc>
                  <a:spcPts val="2798"/>
                </a:lnSpc>
                <a:spcBef>
                  <a:spcPct val="0"/>
                </a:spcBef>
              </a:pPr>
              <a:r>
                <a:rPr lang="en-US" sz="1998">
                  <a:solidFill>
                    <a:srgbClr val="000000"/>
                  </a:solidFill>
                  <a:latin typeface="TAN Ashford"/>
                  <a:ea typeface="TAN Ashford"/>
                  <a:cs typeface="TAN Ashford"/>
                  <a:sym typeface="TAN Ashford"/>
                </a:rPr>
                <a:t>02. Mosaddek Hossain Mehedi</a:t>
              </a:r>
            </a:p>
          </p:txBody>
        </p:sp>
        <p:sp>
          <p:nvSpPr>
            <p:cNvPr name="Freeform 14" id="14"/>
            <p:cNvSpPr/>
            <p:nvPr/>
          </p:nvSpPr>
          <p:spPr>
            <a:xfrm flipH="false" flipV="false" rot="0">
              <a:off x="27696" y="2158243"/>
              <a:ext cx="682916" cy="686347"/>
            </a:xfrm>
            <a:custGeom>
              <a:avLst/>
              <a:gdLst/>
              <a:ahLst/>
              <a:cxnLst/>
              <a:rect r="r" b="b" t="t" l="l"/>
              <a:pathLst>
                <a:path h="686347" w="682916">
                  <a:moveTo>
                    <a:pt x="0" y="0"/>
                  </a:moveTo>
                  <a:lnTo>
                    <a:pt x="682915" y="0"/>
                  </a:lnTo>
                  <a:lnTo>
                    <a:pt x="682915" y="686348"/>
                  </a:lnTo>
                  <a:lnTo>
                    <a:pt x="0" y="68634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5" id="15"/>
            <p:cNvSpPr txBox="true"/>
            <p:nvPr/>
          </p:nvSpPr>
          <p:spPr>
            <a:xfrm rot="0">
              <a:off x="930551" y="2298727"/>
              <a:ext cx="6173366" cy="435053"/>
            </a:xfrm>
            <a:prstGeom prst="rect">
              <a:avLst/>
            </a:prstGeom>
          </p:spPr>
          <p:txBody>
            <a:bodyPr anchor="t" rtlCol="false" tIns="0" lIns="0" bIns="0" rIns="0">
              <a:spAutoFit/>
            </a:bodyPr>
            <a:lstStyle/>
            <a:p>
              <a:pPr algn="ctr">
                <a:lnSpc>
                  <a:spcPts val="2798"/>
                </a:lnSpc>
                <a:spcBef>
                  <a:spcPct val="0"/>
                </a:spcBef>
              </a:pPr>
              <a:r>
                <a:rPr lang="en-US" sz="1998">
                  <a:solidFill>
                    <a:srgbClr val="000000"/>
                  </a:solidFill>
                  <a:latin typeface="TAN Ashford"/>
                  <a:ea typeface="TAN Ashford"/>
                  <a:cs typeface="TAN Ashford"/>
                  <a:sym typeface="TAN Ashford"/>
                </a:rPr>
                <a:t>21. Hasibul Haque Probal</a:t>
              </a:r>
            </a:p>
          </p:txBody>
        </p:sp>
        <p:sp>
          <p:nvSpPr>
            <p:cNvPr name="Freeform 16" id="16"/>
            <p:cNvSpPr/>
            <p:nvPr/>
          </p:nvSpPr>
          <p:spPr>
            <a:xfrm flipH="false" flipV="false" rot="0">
              <a:off x="0" y="3189362"/>
              <a:ext cx="682916" cy="686347"/>
            </a:xfrm>
            <a:custGeom>
              <a:avLst/>
              <a:gdLst/>
              <a:ahLst/>
              <a:cxnLst/>
              <a:rect r="r" b="b" t="t" l="l"/>
              <a:pathLst>
                <a:path h="686347" w="682916">
                  <a:moveTo>
                    <a:pt x="0" y="0"/>
                  </a:moveTo>
                  <a:lnTo>
                    <a:pt x="682916" y="0"/>
                  </a:lnTo>
                  <a:lnTo>
                    <a:pt x="682916" y="686347"/>
                  </a:lnTo>
                  <a:lnTo>
                    <a:pt x="0" y="68634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7" id="17"/>
            <p:cNvSpPr txBox="true"/>
            <p:nvPr/>
          </p:nvSpPr>
          <p:spPr>
            <a:xfrm rot="0">
              <a:off x="930551" y="3321950"/>
              <a:ext cx="5953427" cy="416958"/>
            </a:xfrm>
            <a:prstGeom prst="rect">
              <a:avLst/>
            </a:prstGeom>
          </p:spPr>
          <p:txBody>
            <a:bodyPr anchor="t" rtlCol="false" tIns="0" lIns="0" bIns="0" rIns="0">
              <a:spAutoFit/>
            </a:bodyPr>
            <a:lstStyle/>
            <a:p>
              <a:pPr algn="ctr">
                <a:lnSpc>
                  <a:spcPts val="2711"/>
                </a:lnSpc>
                <a:spcBef>
                  <a:spcPct val="0"/>
                </a:spcBef>
              </a:pPr>
              <a:r>
                <a:rPr lang="en-US" sz="1936">
                  <a:solidFill>
                    <a:srgbClr val="000000"/>
                  </a:solidFill>
                  <a:latin typeface="TAN Ashford"/>
                  <a:ea typeface="TAN Ashford"/>
                  <a:cs typeface="TAN Ashford"/>
                  <a:sym typeface="TAN Ashford"/>
                </a:rPr>
                <a:t>22. Mst. Sultana Yeasmin</a:t>
              </a:r>
            </a:p>
          </p:txBody>
        </p:sp>
        <p:sp>
          <p:nvSpPr>
            <p:cNvPr name="Freeform 18" id="18"/>
            <p:cNvSpPr/>
            <p:nvPr/>
          </p:nvSpPr>
          <p:spPr>
            <a:xfrm flipH="false" flipV="false" rot="0">
              <a:off x="0" y="4220480"/>
              <a:ext cx="682916" cy="686347"/>
            </a:xfrm>
            <a:custGeom>
              <a:avLst/>
              <a:gdLst/>
              <a:ahLst/>
              <a:cxnLst/>
              <a:rect r="r" b="b" t="t" l="l"/>
              <a:pathLst>
                <a:path h="686347" w="682916">
                  <a:moveTo>
                    <a:pt x="0" y="0"/>
                  </a:moveTo>
                  <a:lnTo>
                    <a:pt x="682916" y="0"/>
                  </a:lnTo>
                  <a:lnTo>
                    <a:pt x="682916" y="686348"/>
                  </a:lnTo>
                  <a:lnTo>
                    <a:pt x="0" y="68634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9" id="19"/>
            <p:cNvSpPr txBox="true"/>
            <p:nvPr/>
          </p:nvSpPr>
          <p:spPr>
            <a:xfrm rot="0">
              <a:off x="710611" y="4327077"/>
              <a:ext cx="6393306" cy="435053"/>
            </a:xfrm>
            <a:prstGeom prst="rect">
              <a:avLst/>
            </a:prstGeom>
          </p:spPr>
          <p:txBody>
            <a:bodyPr anchor="t" rtlCol="false" tIns="0" lIns="0" bIns="0" rIns="0">
              <a:spAutoFit/>
            </a:bodyPr>
            <a:lstStyle/>
            <a:p>
              <a:pPr algn="ctr">
                <a:lnSpc>
                  <a:spcPts val="2798"/>
                </a:lnSpc>
                <a:spcBef>
                  <a:spcPct val="0"/>
                </a:spcBef>
              </a:pPr>
              <a:r>
                <a:rPr lang="en-US" sz="1998">
                  <a:solidFill>
                    <a:srgbClr val="000000"/>
                  </a:solidFill>
                  <a:latin typeface="TAN Ashford"/>
                  <a:ea typeface="TAN Ashford"/>
                  <a:cs typeface="TAN Ashford"/>
                  <a:sym typeface="TAN Ashford"/>
                </a:rPr>
                <a:t>40. Azizur Rahman Arzu</a:t>
              </a:r>
            </a:p>
          </p:txBody>
        </p:sp>
      </p:grpSp>
      <p:grpSp>
        <p:nvGrpSpPr>
          <p:cNvPr name="Group 20" id="20"/>
          <p:cNvGrpSpPr/>
          <p:nvPr/>
        </p:nvGrpSpPr>
        <p:grpSpPr>
          <a:xfrm rot="0">
            <a:off x="11013814" y="5818811"/>
            <a:ext cx="7093420" cy="4700992"/>
            <a:chOff x="0" y="0"/>
            <a:chExt cx="9457893" cy="6267989"/>
          </a:xfrm>
        </p:grpSpPr>
        <p:sp>
          <p:nvSpPr>
            <p:cNvPr name="Freeform 21" id="21"/>
            <p:cNvSpPr/>
            <p:nvPr/>
          </p:nvSpPr>
          <p:spPr>
            <a:xfrm flipH="false" flipV="false" rot="0">
              <a:off x="27696" y="0"/>
              <a:ext cx="5963765" cy="909474"/>
            </a:xfrm>
            <a:custGeom>
              <a:avLst/>
              <a:gdLst/>
              <a:ahLst/>
              <a:cxnLst/>
              <a:rect r="r" b="b" t="t" l="l"/>
              <a:pathLst>
                <a:path h="909474" w="5963765">
                  <a:moveTo>
                    <a:pt x="0" y="0"/>
                  </a:moveTo>
                  <a:lnTo>
                    <a:pt x="5963765" y="0"/>
                  </a:lnTo>
                  <a:lnTo>
                    <a:pt x="5963765" y="909474"/>
                  </a:lnTo>
                  <a:lnTo>
                    <a:pt x="0" y="90947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22" id="22"/>
            <p:cNvSpPr txBox="true"/>
            <p:nvPr/>
          </p:nvSpPr>
          <p:spPr>
            <a:xfrm rot="0">
              <a:off x="237301" y="205753"/>
              <a:ext cx="4491646" cy="440818"/>
            </a:xfrm>
            <a:prstGeom prst="rect">
              <a:avLst/>
            </a:prstGeom>
          </p:spPr>
          <p:txBody>
            <a:bodyPr anchor="t" rtlCol="false" tIns="0" lIns="0" bIns="0" rIns="0">
              <a:spAutoFit/>
            </a:bodyPr>
            <a:lstStyle/>
            <a:p>
              <a:pPr algn="l">
                <a:lnSpc>
                  <a:spcPts val="2921"/>
                </a:lnSpc>
                <a:spcBef>
                  <a:spcPct val="0"/>
                </a:spcBef>
              </a:pPr>
              <a:r>
                <a:rPr lang="en-US" sz="1947">
                  <a:solidFill>
                    <a:srgbClr val="F0E8DB"/>
                  </a:solidFill>
                  <a:latin typeface="TAN Ashford"/>
                  <a:ea typeface="TAN Ashford"/>
                  <a:cs typeface="TAN Ashford"/>
                  <a:sym typeface="TAN Ashford"/>
                </a:rPr>
                <a:t>PRESENTED TO</a:t>
              </a:r>
            </a:p>
          </p:txBody>
        </p:sp>
        <p:sp>
          <p:nvSpPr>
            <p:cNvPr name="TextBox 23" id="23"/>
            <p:cNvSpPr txBox="true"/>
            <p:nvPr/>
          </p:nvSpPr>
          <p:spPr>
            <a:xfrm rot="0">
              <a:off x="0" y="1114511"/>
              <a:ext cx="9457893" cy="3623187"/>
            </a:xfrm>
            <a:prstGeom prst="rect">
              <a:avLst/>
            </a:prstGeom>
          </p:spPr>
          <p:txBody>
            <a:bodyPr anchor="t" rtlCol="false" tIns="0" lIns="0" bIns="0" rIns="0">
              <a:spAutoFit/>
            </a:bodyPr>
            <a:lstStyle/>
            <a:p>
              <a:pPr algn="l">
                <a:lnSpc>
                  <a:spcPts val="4017"/>
                </a:lnSpc>
              </a:pPr>
              <a:r>
                <a:rPr lang="en-US" sz="1998" spc="389">
                  <a:solidFill>
                    <a:srgbClr val="000000"/>
                  </a:solidFill>
                  <a:latin typeface="TAN Ashford"/>
                  <a:ea typeface="TAN Ashford"/>
                  <a:cs typeface="TAN Ashford"/>
                  <a:sym typeface="TAN Ashford"/>
                </a:rPr>
                <a:t>Fahim Foysal Abak</a:t>
              </a:r>
            </a:p>
            <a:p>
              <a:pPr algn="l">
                <a:lnSpc>
                  <a:spcPts val="4017"/>
                </a:lnSpc>
              </a:pPr>
              <a:r>
                <a:rPr lang="en-US" sz="1998" spc="389">
                  <a:solidFill>
                    <a:srgbClr val="000000"/>
                  </a:solidFill>
                  <a:latin typeface="TAN Ashford"/>
                  <a:ea typeface="TAN Ashford"/>
                  <a:cs typeface="TAN Ashford"/>
                  <a:sym typeface="TAN Ashford"/>
                </a:rPr>
                <a:t>Lecturer</a:t>
              </a:r>
            </a:p>
            <a:p>
              <a:pPr algn="l">
                <a:lnSpc>
                  <a:spcPts val="4017"/>
                </a:lnSpc>
              </a:pPr>
              <a:r>
                <a:rPr lang="en-US" sz="1998" spc="389">
                  <a:solidFill>
                    <a:srgbClr val="000000"/>
                  </a:solidFill>
                  <a:latin typeface="TAN Ashford"/>
                  <a:ea typeface="TAN Ashford"/>
                  <a:cs typeface="TAN Ashford"/>
                  <a:sym typeface="TAN Ashford"/>
                </a:rPr>
                <a:t>Department of CSE </a:t>
              </a:r>
            </a:p>
            <a:p>
              <a:pPr algn="l">
                <a:lnSpc>
                  <a:spcPts val="4017"/>
                </a:lnSpc>
              </a:pPr>
              <a:r>
                <a:rPr lang="en-US" sz="1998" spc="389">
                  <a:solidFill>
                    <a:srgbClr val="000000"/>
                  </a:solidFill>
                  <a:latin typeface="TAN Ashford"/>
                  <a:ea typeface="TAN Ashford"/>
                  <a:cs typeface="TAN Ashford"/>
                  <a:sym typeface="TAN Ashford"/>
                </a:rPr>
                <a:t>Dhaka International University</a:t>
              </a:r>
            </a:p>
            <a:p>
              <a:pPr algn="ctr">
                <a:lnSpc>
                  <a:spcPts val="2798"/>
                </a:lnSpc>
              </a:pPr>
              <a:r>
                <a:rPr lang="en-US" sz="1998" spc="323">
                  <a:solidFill>
                    <a:srgbClr val="000000"/>
                  </a:solidFill>
                  <a:latin typeface="TAN Ashford"/>
                  <a:ea typeface="TAN Ashford"/>
                  <a:cs typeface="TAN Ashford"/>
                  <a:sym typeface="TAN Ashford"/>
                </a:rPr>
                <a:t> </a:t>
              </a:r>
            </a:p>
            <a:p>
              <a:pPr algn="ctr">
                <a:lnSpc>
                  <a:spcPts val="2798"/>
                </a:lnSpc>
                <a:spcBef>
                  <a:spcPct val="0"/>
                </a:spcBef>
              </a:pPr>
            </a:p>
          </p:txBody>
        </p:sp>
        <p:sp>
          <p:nvSpPr>
            <p:cNvPr name="TextBox 24" id="24"/>
            <p:cNvSpPr txBox="true"/>
            <p:nvPr/>
          </p:nvSpPr>
          <p:spPr>
            <a:xfrm rot="0">
              <a:off x="930551" y="5832936"/>
              <a:ext cx="6173366" cy="435053"/>
            </a:xfrm>
            <a:prstGeom prst="rect">
              <a:avLst/>
            </a:prstGeom>
          </p:spPr>
          <p:txBody>
            <a:bodyPr anchor="t" rtlCol="false" tIns="0" lIns="0" bIns="0" rIns="0">
              <a:spAutoFit/>
            </a:bodyPr>
            <a:lstStyle/>
            <a:p>
              <a:pPr algn="ctr">
                <a:lnSpc>
                  <a:spcPts val="2798"/>
                </a:lnSpc>
                <a:spcBef>
                  <a:spcPct val="0"/>
                </a:spcBef>
              </a:pPr>
            </a:p>
          </p:txBody>
        </p:sp>
      </p:grpSp>
    </p:spTree>
  </p:cSld>
  <p:clrMapOvr>
    <a:masterClrMapping/>
  </p:clrMapOvr>
</p:sld>
</file>

<file path=ppt/slides/slide2.xml><?xml version="1.0" encoding="utf-8"?>
<p:sld xmlns:p="http://schemas.openxmlformats.org/presentationml/2006/main" xmlns:a="http://schemas.openxmlformats.org/drawingml/2006/main">
  <p:cSld>
    <p:bg>
      <p:bgPr>
        <a:solidFill>
          <a:srgbClr val="FFFBE1"/>
        </a:solidFill>
      </p:bgPr>
    </p:bg>
    <p:spTree>
      <p:nvGrpSpPr>
        <p:cNvPr id="1" name=""/>
        <p:cNvGrpSpPr/>
        <p:nvPr/>
      </p:nvGrpSpPr>
      <p:grpSpPr>
        <a:xfrm>
          <a:off x="0" y="0"/>
          <a:ext cx="0" cy="0"/>
          <a:chOff x="0" y="0"/>
          <a:chExt cx="0" cy="0"/>
        </a:xfrm>
      </p:grpSpPr>
      <p:sp>
        <p:nvSpPr>
          <p:cNvPr name="TextBox 2" id="2"/>
          <p:cNvSpPr txBox="true"/>
          <p:nvPr/>
        </p:nvSpPr>
        <p:spPr>
          <a:xfrm rot="0">
            <a:off x="816643" y="1395496"/>
            <a:ext cx="4595590" cy="679450"/>
          </a:xfrm>
          <a:prstGeom prst="rect">
            <a:avLst/>
          </a:prstGeom>
        </p:spPr>
        <p:txBody>
          <a:bodyPr anchor="t" rtlCol="false" tIns="0" lIns="0" bIns="0" rIns="0">
            <a:spAutoFit/>
          </a:bodyPr>
          <a:lstStyle/>
          <a:p>
            <a:pPr algn="ctr">
              <a:lnSpc>
                <a:spcPts val="5599"/>
              </a:lnSpc>
              <a:spcBef>
                <a:spcPct val="0"/>
              </a:spcBef>
            </a:pPr>
            <a:r>
              <a:rPr lang="en-US" sz="3999">
                <a:solidFill>
                  <a:srgbClr val="992800"/>
                </a:solidFill>
                <a:latin typeface="TAN Ashford"/>
                <a:ea typeface="TAN Ashford"/>
                <a:cs typeface="TAN Ashford"/>
                <a:sym typeface="TAN Ashford"/>
              </a:rPr>
              <a:t>Introduction</a:t>
            </a:r>
          </a:p>
        </p:txBody>
      </p:sp>
      <p:sp>
        <p:nvSpPr>
          <p:cNvPr name="TextBox 3" id="3"/>
          <p:cNvSpPr txBox="true"/>
          <p:nvPr/>
        </p:nvSpPr>
        <p:spPr>
          <a:xfrm rot="0">
            <a:off x="816643" y="2226345"/>
            <a:ext cx="15491231" cy="2676524"/>
          </a:xfrm>
          <a:prstGeom prst="rect">
            <a:avLst/>
          </a:prstGeom>
        </p:spPr>
        <p:txBody>
          <a:bodyPr anchor="t" rtlCol="false" tIns="0" lIns="0" bIns="0" rIns="0">
            <a:spAutoFit/>
          </a:bodyPr>
          <a:lstStyle/>
          <a:p>
            <a:pPr algn="l">
              <a:lnSpc>
                <a:spcPts val="4200"/>
              </a:lnSpc>
              <a:spcBef>
                <a:spcPct val="0"/>
              </a:spcBef>
            </a:pPr>
            <a:r>
              <a:rPr lang="en-US" b="true" sz="3000">
                <a:solidFill>
                  <a:srgbClr val="000000"/>
                </a:solidFill>
                <a:latin typeface="Times New Roman Bold"/>
                <a:ea typeface="Times New Roman Bold"/>
                <a:cs typeface="Times New Roman Bold"/>
                <a:sym typeface="Times New Roman Bold"/>
              </a:rPr>
              <a:t>QuickShow is a modern movie theater booking platform designed to streamline the ticketing experience for both customers and administrators. It offers real-time seat selection, ensuring users can view and reserve available seats instantly. The platform integrates secure payment processing for smooth transactions, while an intuitive admin dashboard allows theater owners to efficiently manage shows, seating and bookings.</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FFBE1"/>
        </a:solidFill>
      </p:bgPr>
    </p:bg>
    <p:spTree>
      <p:nvGrpSpPr>
        <p:cNvPr id="1" name=""/>
        <p:cNvGrpSpPr/>
        <p:nvPr/>
      </p:nvGrpSpPr>
      <p:grpSpPr>
        <a:xfrm>
          <a:off x="0" y="0"/>
          <a:ext cx="0" cy="0"/>
          <a:chOff x="0" y="0"/>
          <a:chExt cx="0" cy="0"/>
        </a:xfrm>
      </p:grpSpPr>
      <p:sp>
        <p:nvSpPr>
          <p:cNvPr name="TextBox 2" id="2"/>
          <p:cNvSpPr txBox="true"/>
          <p:nvPr/>
        </p:nvSpPr>
        <p:spPr>
          <a:xfrm rot="0">
            <a:off x="788068" y="1395496"/>
            <a:ext cx="3843617" cy="679450"/>
          </a:xfrm>
          <a:prstGeom prst="rect">
            <a:avLst/>
          </a:prstGeom>
        </p:spPr>
        <p:txBody>
          <a:bodyPr anchor="t" rtlCol="false" tIns="0" lIns="0" bIns="0" rIns="0">
            <a:spAutoFit/>
          </a:bodyPr>
          <a:lstStyle/>
          <a:p>
            <a:pPr algn="ctr">
              <a:lnSpc>
                <a:spcPts val="5599"/>
              </a:lnSpc>
              <a:spcBef>
                <a:spcPct val="0"/>
              </a:spcBef>
            </a:pPr>
            <a:r>
              <a:rPr lang="en-US" sz="3999">
                <a:solidFill>
                  <a:srgbClr val="992800"/>
                </a:solidFill>
                <a:latin typeface="TAN Ashford"/>
                <a:ea typeface="TAN Ashford"/>
                <a:cs typeface="TAN Ashford"/>
                <a:sym typeface="TAN Ashford"/>
              </a:rPr>
              <a:t>Objectives</a:t>
            </a:r>
          </a:p>
        </p:txBody>
      </p:sp>
      <p:sp>
        <p:nvSpPr>
          <p:cNvPr name="TextBox 3" id="3"/>
          <p:cNvSpPr txBox="true"/>
          <p:nvPr/>
        </p:nvSpPr>
        <p:spPr>
          <a:xfrm rot="0">
            <a:off x="478864" y="2322647"/>
            <a:ext cx="16056997" cy="2619376"/>
          </a:xfrm>
          <a:prstGeom prst="rect">
            <a:avLst/>
          </a:prstGeom>
        </p:spPr>
        <p:txBody>
          <a:bodyPr anchor="t" rtlCol="false" tIns="0" lIns="0" bIns="0" rIns="0">
            <a:spAutoFit/>
          </a:bodyPr>
          <a:lstStyle/>
          <a:p>
            <a:pPr algn="l" marL="647694" indent="-323847" lvl="1">
              <a:lnSpc>
                <a:spcPts val="4199"/>
              </a:lnSpc>
              <a:buFont typeface="Arial"/>
              <a:buChar char="•"/>
            </a:pPr>
            <a:r>
              <a:rPr lang="en-US" b="true" sz="2999">
                <a:solidFill>
                  <a:srgbClr val="000000"/>
                </a:solidFill>
                <a:latin typeface="Times New Roman Bold"/>
                <a:ea typeface="Times New Roman Bold"/>
                <a:cs typeface="Times New Roman Bold"/>
                <a:sym typeface="Times New Roman Bold"/>
              </a:rPr>
              <a:t>Leaving the mark of developing an web marvel: </a:t>
            </a:r>
            <a:r>
              <a:rPr lang="en-US" sz="2999">
                <a:solidFill>
                  <a:srgbClr val="000000"/>
                </a:solidFill>
                <a:latin typeface="Times New Roman"/>
                <a:ea typeface="Times New Roman"/>
                <a:cs typeface="Times New Roman"/>
                <a:sym typeface="Times New Roman"/>
              </a:rPr>
              <a:t>using the trending technological tools to deploy a modern, scalable system.</a:t>
            </a:r>
          </a:p>
          <a:p>
            <a:pPr algn="l" marL="647694" indent="-323847" lvl="1">
              <a:lnSpc>
                <a:spcPts val="4199"/>
              </a:lnSpc>
              <a:buFont typeface="Arial"/>
              <a:buChar char="•"/>
            </a:pPr>
            <a:r>
              <a:rPr lang="en-US" b="true" sz="2999">
                <a:solidFill>
                  <a:srgbClr val="000000"/>
                </a:solidFill>
                <a:latin typeface="Times New Roman Bold"/>
                <a:ea typeface="Times New Roman Bold"/>
                <a:cs typeface="Times New Roman Bold"/>
                <a:sym typeface="Times New Roman Bold"/>
              </a:rPr>
              <a:t>Designing user friendly reservation system: </a:t>
            </a:r>
            <a:r>
              <a:rPr lang="en-US" sz="2999">
                <a:solidFill>
                  <a:srgbClr val="000000"/>
                </a:solidFill>
                <a:latin typeface="Times New Roman"/>
                <a:ea typeface="Times New Roman"/>
                <a:cs typeface="Times New Roman"/>
                <a:sym typeface="Times New Roman"/>
              </a:rPr>
              <a:t>ensuring highest users’ convenience. </a:t>
            </a:r>
          </a:p>
          <a:p>
            <a:pPr algn="l" marL="647694" indent="-323847" lvl="1">
              <a:lnSpc>
                <a:spcPts val="4199"/>
              </a:lnSpc>
              <a:buFont typeface="Arial"/>
              <a:buChar char="•"/>
            </a:pPr>
            <a:r>
              <a:rPr lang="en-US" b="true" sz="2999">
                <a:solidFill>
                  <a:srgbClr val="000000"/>
                </a:solidFill>
                <a:latin typeface="Times New Roman Bold"/>
                <a:ea typeface="Times New Roman Bold"/>
                <a:cs typeface="Times New Roman Bold"/>
                <a:sym typeface="Times New Roman Bold"/>
              </a:rPr>
              <a:t>Providing complete cineplex management solution: </a:t>
            </a:r>
            <a:r>
              <a:rPr lang="en-US" sz="2999">
                <a:solidFill>
                  <a:srgbClr val="000000"/>
                </a:solidFill>
                <a:latin typeface="Times New Roman"/>
                <a:ea typeface="Times New Roman"/>
                <a:cs typeface="Times New Roman"/>
                <a:sym typeface="Times New Roman"/>
              </a:rPr>
              <a:t>efficient management tool with full authority.</a:t>
            </a:r>
          </a:p>
          <a:p>
            <a:pPr algn="l" marL="647694" indent="-323847" lvl="1">
              <a:lnSpc>
                <a:spcPts val="4199"/>
              </a:lnSpc>
              <a:buFont typeface="Arial"/>
              <a:buChar char="•"/>
            </a:pPr>
            <a:r>
              <a:rPr lang="en-US" b="true" sz="2999">
                <a:solidFill>
                  <a:srgbClr val="000000"/>
                </a:solidFill>
                <a:latin typeface="Times New Roman Bold"/>
                <a:ea typeface="Times New Roman Bold"/>
                <a:cs typeface="Times New Roman Bold"/>
                <a:sym typeface="Times New Roman Bold"/>
              </a:rPr>
              <a:t>Easing the procedure: </a:t>
            </a:r>
            <a:r>
              <a:rPr lang="en-US" sz="2999">
                <a:solidFill>
                  <a:srgbClr val="000000"/>
                </a:solidFill>
                <a:latin typeface="Times New Roman"/>
                <a:ea typeface="Times New Roman"/>
                <a:cs typeface="Times New Roman"/>
                <a:sym typeface="Times New Roman"/>
              </a:rPr>
              <a:t>reduces effort from both ends, accelerates efficiency.</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FFBE1"/>
        </a:solidFill>
      </p:bgPr>
    </p:bg>
    <p:spTree>
      <p:nvGrpSpPr>
        <p:cNvPr id="1" name=""/>
        <p:cNvGrpSpPr/>
        <p:nvPr/>
      </p:nvGrpSpPr>
      <p:grpSpPr>
        <a:xfrm>
          <a:off x="0" y="0"/>
          <a:ext cx="0" cy="0"/>
          <a:chOff x="0" y="0"/>
          <a:chExt cx="0" cy="0"/>
        </a:xfrm>
      </p:grpSpPr>
      <p:sp>
        <p:nvSpPr>
          <p:cNvPr name="TextBox 2" id="2"/>
          <p:cNvSpPr txBox="true"/>
          <p:nvPr/>
        </p:nvSpPr>
        <p:spPr>
          <a:xfrm rot="0">
            <a:off x="788068" y="1395496"/>
            <a:ext cx="3963933" cy="679450"/>
          </a:xfrm>
          <a:prstGeom prst="rect">
            <a:avLst/>
          </a:prstGeom>
        </p:spPr>
        <p:txBody>
          <a:bodyPr anchor="t" rtlCol="false" tIns="0" lIns="0" bIns="0" rIns="0">
            <a:spAutoFit/>
          </a:bodyPr>
          <a:lstStyle/>
          <a:p>
            <a:pPr algn="ctr">
              <a:lnSpc>
                <a:spcPts val="5599"/>
              </a:lnSpc>
              <a:spcBef>
                <a:spcPct val="0"/>
              </a:spcBef>
            </a:pPr>
            <a:r>
              <a:rPr lang="en-US" sz="3999">
                <a:solidFill>
                  <a:srgbClr val="992800"/>
                </a:solidFill>
                <a:latin typeface="TAN Ashford"/>
                <a:ea typeface="TAN Ashford"/>
                <a:cs typeface="TAN Ashford"/>
                <a:sym typeface="TAN Ashford"/>
              </a:rPr>
              <a:t>Tech Stack</a:t>
            </a:r>
          </a:p>
        </p:txBody>
      </p:sp>
      <p:sp>
        <p:nvSpPr>
          <p:cNvPr name="TextBox 3" id="3"/>
          <p:cNvSpPr txBox="true"/>
          <p:nvPr/>
        </p:nvSpPr>
        <p:spPr>
          <a:xfrm rot="0">
            <a:off x="788068" y="2168252"/>
            <a:ext cx="13760462" cy="8350250"/>
          </a:xfrm>
          <a:prstGeom prst="rect">
            <a:avLst/>
          </a:prstGeom>
        </p:spPr>
        <p:txBody>
          <a:bodyPr anchor="t" rtlCol="false" tIns="0" lIns="0" bIns="0" rIns="0">
            <a:spAutoFit/>
          </a:bodyPr>
          <a:lstStyle/>
          <a:p>
            <a:pPr algn="l">
              <a:lnSpc>
                <a:spcPts val="5599"/>
              </a:lnSpc>
            </a:pPr>
            <a:r>
              <a:rPr lang="en-US" sz="3999" u="sng" b="true">
                <a:solidFill>
                  <a:srgbClr val="000000"/>
                </a:solidFill>
                <a:latin typeface="Times New Roman Bold"/>
                <a:ea typeface="Times New Roman Bold"/>
                <a:cs typeface="Times New Roman Bold"/>
                <a:sym typeface="Times New Roman Bold"/>
              </a:rPr>
              <a:t>Fr</a:t>
            </a:r>
            <a:r>
              <a:rPr lang="en-US" sz="3999" u="sng" b="true">
                <a:solidFill>
                  <a:srgbClr val="000000"/>
                </a:solidFill>
                <a:latin typeface="Times New Roman Bold"/>
                <a:ea typeface="Times New Roman Bold"/>
                <a:cs typeface="Times New Roman Bold"/>
                <a:sym typeface="Times New Roman Bold"/>
              </a:rPr>
              <a:t>ontend</a:t>
            </a:r>
          </a:p>
          <a:p>
            <a:pPr algn="l" marL="647700" indent="-323850" lvl="1">
              <a:lnSpc>
                <a:spcPts val="4200"/>
              </a:lnSpc>
              <a:buFont typeface="Arial"/>
              <a:buChar char="•"/>
            </a:pPr>
            <a:r>
              <a:rPr lang="en-US" b="true" sz="3000">
                <a:solidFill>
                  <a:srgbClr val="000000"/>
                </a:solidFill>
                <a:latin typeface="Times New Roman Bold"/>
                <a:ea typeface="Times New Roman Bold"/>
                <a:cs typeface="Times New Roman Bold"/>
                <a:sym typeface="Times New Roman Bold"/>
              </a:rPr>
              <a:t>React + Vite – </a:t>
            </a:r>
            <a:r>
              <a:rPr lang="en-US" sz="3000">
                <a:solidFill>
                  <a:srgbClr val="000000"/>
                </a:solidFill>
                <a:latin typeface="Times New Roman"/>
                <a:ea typeface="Times New Roman"/>
                <a:cs typeface="Times New Roman"/>
                <a:sym typeface="Times New Roman"/>
              </a:rPr>
              <a:t>Fast, modern frontend setup for interactive UIs</a:t>
            </a:r>
          </a:p>
          <a:p>
            <a:pPr algn="l" marL="647700" indent="-323850" lvl="1">
              <a:lnSpc>
                <a:spcPts val="4200"/>
              </a:lnSpc>
              <a:buFont typeface="Arial"/>
              <a:buChar char="•"/>
            </a:pPr>
            <a:r>
              <a:rPr lang="en-US" b="true" sz="3000">
                <a:solidFill>
                  <a:srgbClr val="000000"/>
                </a:solidFill>
                <a:latin typeface="Times New Roman Bold"/>
                <a:ea typeface="Times New Roman Bold"/>
                <a:cs typeface="Times New Roman Bold"/>
                <a:sym typeface="Times New Roman Bold"/>
              </a:rPr>
              <a:t>Tailwind CSS –  </a:t>
            </a:r>
            <a:r>
              <a:rPr lang="en-US" sz="3000">
                <a:solidFill>
                  <a:srgbClr val="000000"/>
                </a:solidFill>
                <a:latin typeface="Times New Roman"/>
                <a:ea typeface="Times New Roman"/>
                <a:cs typeface="Times New Roman"/>
                <a:sym typeface="Times New Roman"/>
              </a:rPr>
              <a:t>Clean, responsive design system</a:t>
            </a:r>
          </a:p>
          <a:p>
            <a:pPr algn="l" marL="647700" indent="-323850" lvl="1">
              <a:lnSpc>
                <a:spcPts val="4200"/>
              </a:lnSpc>
              <a:buFont typeface="Arial"/>
              <a:buChar char="•"/>
            </a:pPr>
            <a:r>
              <a:rPr lang="en-US" b="true" sz="3000">
                <a:solidFill>
                  <a:srgbClr val="000000"/>
                </a:solidFill>
                <a:latin typeface="Times New Roman Bold"/>
                <a:ea typeface="Times New Roman Bold"/>
                <a:cs typeface="Times New Roman Bold"/>
                <a:sym typeface="Times New Roman Bold"/>
              </a:rPr>
              <a:t>React Router DOM – </a:t>
            </a:r>
            <a:r>
              <a:rPr lang="en-US" sz="3000">
                <a:solidFill>
                  <a:srgbClr val="000000"/>
                </a:solidFill>
                <a:latin typeface="Times New Roman"/>
                <a:ea typeface="Times New Roman"/>
                <a:cs typeface="Times New Roman"/>
                <a:sym typeface="Times New Roman"/>
              </a:rPr>
              <a:t>Smooth navigation and route management</a:t>
            </a:r>
          </a:p>
          <a:p>
            <a:pPr algn="l" marL="647700" indent="-323850" lvl="1">
              <a:lnSpc>
                <a:spcPts val="4200"/>
              </a:lnSpc>
              <a:buFont typeface="Arial"/>
              <a:buChar char="•"/>
            </a:pPr>
            <a:r>
              <a:rPr lang="en-US" b="true" sz="3000">
                <a:solidFill>
                  <a:srgbClr val="000000"/>
                </a:solidFill>
                <a:latin typeface="Times New Roman Bold"/>
                <a:ea typeface="Times New Roman Bold"/>
                <a:cs typeface="Times New Roman Bold"/>
                <a:sym typeface="Times New Roman Bold"/>
              </a:rPr>
              <a:t>Axios – </a:t>
            </a:r>
            <a:r>
              <a:rPr lang="en-US" sz="3000">
                <a:solidFill>
                  <a:srgbClr val="000000"/>
                </a:solidFill>
                <a:latin typeface="Times New Roman"/>
                <a:ea typeface="Times New Roman"/>
                <a:cs typeface="Times New Roman"/>
                <a:sym typeface="Times New Roman"/>
              </a:rPr>
              <a:t>For efficient API communication</a:t>
            </a:r>
          </a:p>
          <a:p>
            <a:pPr algn="l" marL="647700" indent="-323850" lvl="1">
              <a:lnSpc>
                <a:spcPts val="4200"/>
              </a:lnSpc>
              <a:buFont typeface="Arial"/>
              <a:buChar char="•"/>
            </a:pPr>
            <a:r>
              <a:rPr lang="en-US" b="true" sz="3000">
                <a:solidFill>
                  <a:srgbClr val="000000"/>
                </a:solidFill>
                <a:latin typeface="Times New Roman Bold"/>
                <a:ea typeface="Times New Roman Bold"/>
                <a:cs typeface="Times New Roman Bold"/>
                <a:sym typeface="Times New Roman Bold"/>
              </a:rPr>
              <a:t>Lucide React – </a:t>
            </a:r>
            <a:r>
              <a:rPr lang="en-US" sz="3000">
                <a:solidFill>
                  <a:srgbClr val="000000"/>
                </a:solidFill>
                <a:latin typeface="Times New Roman"/>
                <a:ea typeface="Times New Roman"/>
                <a:cs typeface="Times New Roman"/>
                <a:sym typeface="Times New Roman"/>
              </a:rPr>
              <a:t>Lightweight and elegant icon library</a:t>
            </a:r>
          </a:p>
          <a:p>
            <a:pPr algn="l">
              <a:lnSpc>
                <a:spcPts val="5599"/>
              </a:lnSpc>
            </a:pPr>
            <a:r>
              <a:rPr lang="en-US" sz="3999" u="sng" b="true">
                <a:solidFill>
                  <a:srgbClr val="000000"/>
                </a:solidFill>
                <a:latin typeface="Times New Roman Bold"/>
                <a:ea typeface="Times New Roman Bold"/>
                <a:cs typeface="Times New Roman Bold"/>
                <a:sym typeface="Times New Roman Bold"/>
              </a:rPr>
              <a:t>Backend</a:t>
            </a:r>
          </a:p>
          <a:p>
            <a:pPr algn="l" marL="647700" indent="-323850" lvl="1">
              <a:lnSpc>
                <a:spcPts val="4200"/>
              </a:lnSpc>
              <a:buFont typeface="Arial"/>
              <a:buChar char="•"/>
            </a:pPr>
            <a:r>
              <a:rPr lang="en-US" b="true" sz="3000">
                <a:solidFill>
                  <a:srgbClr val="000000"/>
                </a:solidFill>
                <a:latin typeface="Times New Roman Bold"/>
                <a:ea typeface="Times New Roman Bold"/>
                <a:cs typeface="Times New Roman Bold"/>
                <a:sym typeface="Times New Roman Bold"/>
              </a:rPr>
              <a:t>Node.js + Express 5 – </a:t>
            </a:r>
            <a:r>
              <a:rPr lang="en-US" sz="3000">
                <a:solidFill>
                  <a:srgbClr val="000000"/>
                </a:solidFill>
                <a:latin typeface="Times New Roman"/>
                <a:ea typeface="Times New Roman"/>
                <a:cs typeface="Times New Roman"/>
                <a:sym typeface="Times New Roman"/>
              </a:rPr>
              <a:t>Robust </a:t>
            </a:r>
            <a:r>
              <a:rPr lang="en-US" sz="3000">
                <a:solidFill>
                  <a:srgbClr val="000000"/>
                </a:solidFill>
                <a:latin typeface="Times New Roman"/>
                <a:ea typeface="Times New Roman"/>
                <a:cs typeface="Times New Roman"/>
                <a:sym typeface="Times New Roman"/>
              </a:rPr>
              <a:t>API and server framework</a:t>
            </a:r>
          </a:p>
          <a:p>
            <a:pPr algn="l" marL="647700" indent="-323850" lvl="1">
              <a:lnSpc>
                <a:spcPts val="4200"/>
              </a:lnSpc>
              <a:buFont typeface="Arial"/>
              <a:buChar char="•"/>
            </a:pPr>
            <a:r>
              <a:rPr lang="en-US" b="true" sz="3000">
                <a:solidFill>
                  <a:srgbClr val="000000"/>
                </a:solidFill>
                <a:latin typeface="Times New Roman Bold"/>
                <a:ea typeface="Times New Roman Bold"/>
                <a:cs typeface="Times New Roman Bold"/>
                <a:sym typeface="Times New Roman Bold"/>
              </a:rPr>
              <a:t>MongoDB + Mongoose** – </a:t>
            </a:r>
            <a:r>
              <a:rPr lang="en-US" sz="3000">
                <a:solidFill>
                  <a:srgbClr val="000000"/>
                </a:solidFill>
                <a:latin typeface="Times New Roman"/>
                <a:ea typeface="Times New Roman"/>
                <a:cs typeface="Times New Roman"/>
                <a:sym typeface="Times New Roman"/>
              </a:rPr>
              <a:t>Scalable and schema-based data management</a:t>
            </a:r>
          </a:p>
          <a:p>
            <a:pPr algn="l" marL="647700" indent="-323850" lvl="1">
              <a:lnSpc>
                <a:spcPts val="4200"/>
              </a:lnSpc>
              <a:buFont typeface="Arial"/>
              <a:buChar char="•"/>
            </a:pPr>
            <a:r>
              <a:rPr lang="en-US" b="true" sz="3000">
                <a:solidFill>
                  <a:srgbClr val="000000"/>
                </a:solidFill>
                <a:latin typeface="Times New Roman Bold"/>
                <a:ea typeface="Times New Roman Bold"/>
                <a:cs typeface="Times New Roman Bold"/>
                <a:sym typeface="Times New Roman Bold"/>
              </a:rPr>
              <a:t>Stripe – </a:t>
            </a:r>
            <a:r>
              <a:rPr lang="en-US" sz="3000">
                <a:solidFill>
                  <a:srgbClr val="000000"/>
                </a:solidFill>
                <a:latin typeface="Times New Roman"/>
                <a:ea typeface="Times New Roman"/>
                <a:cs typeface="Times New Roman"/>
                <a:sym typeface="Times New Roman"/>
              </a:rPr>
              <a:t>Secure online payment processing</a:t>
            </a:r>
          </a:p>
          <a:p>
            <a:pPr algn="l" marL="647700" indent="-323850" lvl="1">
              <a:lnSpc>
                <a:spcPts val="4200"/>
              </a:lnSpc>
              <a:buFont typeface="Arial"/>
              <a:buChar char="•"/>
            </a:pPr>
            <a:r>
              <a:rPr lang="en-US" b="true" sz="3000">
                <a:solidFill>
                  <a:srgbClr val="000000"/>
                </a:solidFill>
                <a:latin typeface="Times New Roman Bold"/>
                <a:ea typeface="Times New Roman Bold"/>
                <a:cs typeface="Times New Roman Bold"/>
                <a:sym typeface="Times New Roman Bold"/>
              </a:rPr>
              <a:t>Clerk – </a:t>
            </a:r>
            <a:r>
              <a:rPr lang="en-US" sz="3000">
                <a:solidFill>
                  <a:srgbClr val="000000"/>
                </a:solidFill>
                <a:latin typeface="Times New Roman"/>
                <a:ea typeface="Times New Roman"/>
                <a:cs typeface="Times New Roman"/>
                <a:sym typeface="Times New Roman"/>
              </a:rPr>
              <a:t>Authentication and user management with roles</a:t>
            </a:r>
          </a:p>
          <a:p>
            <a:pPr algn="l" marL="647700" indent="-323850" lvl="1">
              <a:lnSpc>
                <a:spcPts val="4200"/>
              </a:lnSpc>
              <a:buFont typeface="Arial"/>
              <a:buChar char="•"/>
            </a:pPr>
            <a:r>
              <a:rPr lang="en-US" b="true" sz="3000">
                <a:solidFill>
                  <a:srgbClr val="000000"/>
                </a:solidFill>
                <a:latin typeface="Times New Roman Bold"/>
                <a:ea typeface="Times New Roman Bold"/>
                <a:cs typeface="Times New Roman Bold"/>
                <a:sym typeface="Times New Roman Bold"/>
              </a:rPr>
              <a:t>Cloudin</a:t>
            </a:r>
            <a:r>
              <a:rPr lang="en-US" b="true" sz="3000">
                <a:solidFill>
                  <a:srgbClr val="000000"/>
                </a:solidFill>
                <a:latin typeface="Times New Roman Bold"/>
                <a:ea typeface="Times New Roman Bold"/>
                <a:cs typeface="Times New Roman Bold"/>
                <a:sym typeface="Times New Roman Bold"/>
              </a:rPr>
              <a:t>ary – </a:t>
            </a:r>
            <a:r>
              <a:rPr lang="en-US" sz="3000">
                <a:solidFill>
                  <a:srgbClr val="000000"/>
                </a:solidFill>
                <a:latin typeface="Times New Roman"/>
                <a:ea typeface="Times New Roman"/>
                <a:cs typeface="Times New Roman"/>
                <a:sym typeface="Times New Roman"/>
              </a:rPr>
              <a:t>Media storage for posters and images</a:t>
            </a:r>
          </a:p>
          <a:p>
            <a:pPr algn="l" marL="647700" indent="-323850" lvl="1">
              <a:lnSpc>
                <a:spcPts val="4200"/>
              </a:lnSpc>
              <a:buFont typeface="Arial"/>
              <a:buChar char="•"/>
            </a:pPr>
            <a:r>
              <a:rPr lang="en-US" b="true" sz="3000">
                <a:solidFill>
                  <a:srgbClr val="000000"/>
                </a:solidFill>
                <a:latin typeface="Times New Roman Bold"/>
                <a:ea typeface="Times New Roman Bold"/>
                <a:cs typeface="Times New Roman Bold"/>
                <a:sym typeface="Times New Roman Bold"/>
              </a:rPr>
              <a:t>Nodemailer – </a:t>
            </a:r>
            <a:r>
              <a:rPr lang="en-US" sz="3000">
                <a:solidFill>
                  <a:srgbClr val="000000"/>
                </a:solidFill>
                <a:latin typeface="Times New Roman"/>
                <a:ea typeface="Times New Roman"/>
                <a:cs typeface="Times New Roman"/>
                <a:sym typeface="Times New Roman"/>
              </a:rPr>
              <a:t>Automated booking email confirmations</a:t>
            </a:r>
          </a:p>
          <a:p>
            <a:pPr algn="l" marL="647700" indent="-323850" lvl="1">
              <a:lnSpc>
                <a:spcPts val="4200"/>
              </a:lnSpc>
              <a:buFont typeface="Arial"/>
              <a:buChar char="•"/>
            </a:pPr>
            <a:r>
              <a:rPr lang="en-US" b="true" sz="3000">
                <a:solidFill>
                  <a:srgbClr val="000000"/>
                </a:solidFill>
                <a:latin typeface="Times New Roman Bold"/>
                <a:ea typeface="Times New Roman Bold"/>
                <a:cs typeface="Times New Roman Bold"/>
                <a:sym typeface="Times New Roman Bold"/>
              </a:rPr>
              <a:t> Inngest – </a:t>
            </a:r>
            <a:r>
              <a:rPr lang="en-US" sz="3000">
                <a:solidFill>
                  <a:srgbClr val="000000"/>
                </a:solidFill>
                <a:latin typeface="Times New Roman"/>
                <a:ea typeface="Times New Roman"/>
                <a:cs typeface="Times New Roman"/>
                <a:sym typeface="Times New Roman"/>
              </a:rPr>
              <a:t>Background jobs and workflow automation</a:t>
            </a:r>
          </a:p>
          <a:p>
            <a:pPr algn="l">
              <a:lnSpc>
                <a:spcPts val="4200"/>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FFBE1"/>
        </a:solidFill>
      </p:bgPr>
    </p:bg>
    <p:spTree>
      <p:nvGrpSpPr>
        <p:cNvPr id="1" name=""/>
        <p:cNvGrpSpPr/>
        <p:nvPr/>
      </p:nvGrpSpPr>
      <p:grpSpPr>
        <a:xfrm>
          <a:off x="0" y="0"/>
          <a:ext cx="0" cy="0"/>
          <a:chOff x="0" y="0"/>
          <a:chExt cx="0" cy="0"/>
        </a:xfrm>
      </p:grpSpPr>
      <p:sp>
        <p:nvSpPr>
          <p:cNvPr name="TextBox 2" id="2"/>
          <p:cNvSpPr txBox="true"/>
          <p:nvPr/>
        </p:nvSpPr>
        <p:spPr>
          <a:xfrm rot="0">
            <a:off x="788068" y="1395496"/>
            <a:ext cx="5197169" cy="679450"/>
          </a:xfrm>
          <a:prstGeom prst="rect">
            <a:avLst/>
          </a:prstGeom>
        </p:spPr>
        <p:txBody>
          <a:bodyPr anchor="t" rtlCol="false" tIns="0" lIns="0" bIns="0" rIns="0">
            <a:spAutoFit/>
          </a:bodyPr>
          <a:lstStyle/>
          <a:p>
            <a:pPr algn="ctr">
              <a:lnSpc>
                <a:spcPts val="5599"/>
              </a:lnSpc>
              <a:spcBef>
                <a:spcPct val="0"/>
              </a:spcBef>
            </a:pPr>
            <a:r>
              <a:rPr lang="en-US" sz="3999">
                <a:solidFill>
                  <a:srgbClr val="992800"/>
                </a:solidFill>
                <a:latin typeface="TAN Ashford"/>
                <a:ea typeface="TAN Ashford"/>
                <a:cs typeface="TAN Ashford"/>
                <a:sym typeface="TAN Ashford"/>
              </a:rPr>
              <a:t>API Overview</a:t>
            </a:r>
          </a:p>
        </p:txBody>
      </p:sp>
      <p:graphicFrame>
        <p:nvGraphicFramePr>
          <p:cNvPr name="Table 3" id="3"/>
          <p:cNvGraphicFramePr>
            <a:graphicFrameLocks noGrp="true"/>
          </p:cNvGraphicFramePr>
          <p:nvPr/>
        </p:nvGraphicFramePr>
        <p:xfrm>
          <a:off x="1862349" y="2427962"/>
          <a:ext cx="14563303" cy="7642293"/>
        </p:xfrm>
        <a:graphic>
          <a:graphicData uri="http://schemas.openxmlformats.org/drawingml/2006/table">
            <a:tbl>
              <a:tblPr/>
              <a:tblGrid>
                <a:gridCol w="5063448"/>
                <a:gridCol w="2931885"/>
                <a:gridCol w="6567970"/>
              </a:tblGrid>
              <a:tr h="836031">
                <a:tc>
                  <a:txBody>
                    <a:bodyPr anchor="t" rtlCol="false"/>
                    <a:lstStyle/>
                    <a:p>
                      <a:pPr algn="ctr">
                        <a:lnSpc>
                          <a:spcPts val="5235"/>
                        </a:lnSpc>
                        <a:defRPr/>
                      </a:pPr>
                      <a:r>
                        <a:rPr lang="en-US" b="true" sz="2799" spc="139">
                          <a:solidFill>
                            <a:srgbClr val="000000"/>
                          </a:solidFill>
                          <a:latin typeface="Times New Roman Bold"/>
                          <a:ea typeface="Times New Roman Bold"/>
                          <a:cs typeface="Times New Roman Bold"/>
                          <a:sym typeface="Times New Roman Bold"/>
                        </a:rPr>
                        <a:t>Endpoint</a:t>
                      </a:r>
                      <a:endParaRPr lang="en-US" sz="1100"/>
                    </a:p>
                  </a:txBody>
                  <a:tcPr marL="0" marR="0" marT="0" marB="0" anchor="ctr">
                    <a:lnL cmpd="sng" algn="ctr" cap="flat" w="47625">
                      <a:solidFill>
                        <a:srgbClr val="000000"/>
                      </a:solidFill>
                      <a:prstDash val="solid"/>
                      <a:round/>
                      <a:headEnd type="none" w="med" len="med"/>
                      <a:tailEnd type="none" w="med" len="med"/>
                    </a:lnL>
                    <a:lnR cmpd="sng" algn="ctr" cap="flat" w="47625">
                      <a:solidFill>
                        <a:srgbClr val="000000"/>
                      </a:solidFill>
                      <a:prstDash val="solid"/>
                      <a:round/>
                      <a:headEnd type="none" w="med" len="med"/>
                      <a:tailEnd type="none" w="med" len="med"/>
                    </a:lnR>
                    <a:lnT cmpd="sng" algn="ctr" cap="flat" w="47625">
                      <a:solidFill>
                        <a:srgbClr val="000000"/>
                      </a:solidFill>
                      <a:prstDash val="solid"/>
                      <a:round/>
                      <a:headEnd type="none" w="med" len="med"/>
                      <a:tailEnd type="none" w="med" len="med"/>
                    </a:lnT>
                    <a:lnB cmpd="sng" algn="ctr" cap="flat" w="47625">
                      <a:solidFill>
                        <a:srgbClr val="000000"/>
                      </a:solidFill>
                      <a:prstDash val="solid"/>
                      <a:round/>
                      <a:headEnd type="none" w="med" len="med"/>
                      <a:tailEnd type="none" w="med" len="med"/>
                    </a:lnB>
                  </a:tcPr>
                </a:tc>
                <a:tc>
                  <a:txBody>
                    <a:bodyPr anchor="t" rtlCol="false"/>
                    <a:lstStyle/>
                    <a:p>
                      <a:pPr algn="ctr">
                        <a:lnSpc>
                          <a:spcPts val="5235"/>
                        </a:lnSpc>
                        <a:defRPr/>
                      </a:pPr>
                      <a:r>
                        <a:rPr lang="en-US" b="true" sz="2799" spc="139">
                          <a:solidFill>
                            <a:srgbClr val="000000"/>
                          </a:solidFill>
                          <a:latin typeface="Times New Roman Bold"/>
                          <a:ea typeface="Times New Roman Bold"/>
                          <a:cs typeface="Times New Roman Bold"/>
                          <a:sym typeface="Times New Roman Bold"/>
                        </a:rPr>
                        <a:t>Method</a:t>
                      </a:r>
                      <a:endParaRPr lang="en-US" sz="1100"/>
                    </a:p>
                  </a:txBody>
                  <a:tcPr marL="0" marR="0" marT="0" marB="0" anchor="ctr">
                    <a:lnL cmpd="sng" algn="ctr" cap="flat" w="47625">
                      <a:solidFill>
                        <a:srgbClr val="000000"/>
                      </a:solidFill>
                      <a:prstDash val="solid"/>
                      <a:round/>
                      <a:headEnd type="none" w="med" len="med"/>
                      <a:tailEnd type="none" w="med" len="med"/>
                    </a:lnL>
                    <a:lnR cmpd="sng" algn="ctr" cap="flat" w="47625">
                      <a:solidFill>
                        <a:srgbClr val="000000"/>
                      </a:solidFill>
                      <a:prstDash val="solid"/>
                      <a:round/>
                      <a:headEnd type="none" w="med" len="med"/>
                      <a:tailEnd type="none" w="med" len="med"/>
                    </a:lnR>
                    <a:lnT cmpd="sng" algn="ctr" cap="flat" w="47625">
                      <a:solidFill>
                        <a:srgbClr val="000000"/>
                      </a:solidFill>
                      <a:prstDash val="solid"/>
                      <a:round/>
                      <a:headEnd type="none" w="med" len="med"/>
                      <a:tailEnd type="none" w="med" len="med"/>
                    </a:lnT>
                    <a:lnB cmpd="sng" algn="ctr" cap="flat" w="47625">
                      <a:solidFill>
                        <a:srgbClr val="000000"/>
                      </a:solidFill>
                      <a:prstDash val="solid"/>
                      <a:round/>
                      <a:headEnd type="none" w="med" len="med"/>
                      <a:tailEnd type="none" w="med" len="med"/>
                    </a:lnB>
                  </a:tcPr>
                </a:tc>
                <a:tc>
                  <a:txBody>
                    <a:bodyPr anchor="t" rtlCol="false"/>
                    <a:lstStyle/>
                    <a:p>
                      <a:pPr algn="ctr">
                        <a:lnSpc>
                          <a:spcPts val="5235"/>
                        </a:lnSpc>
                        <a:defRPr/>
                      </a:pPr>
                      <a:r>
                        <a:rPr lang="en-US" b="true" sz="2799" spc="139">
                          <a:solidFill>
                            <a:srgbClr val="000000"/>
                          </a:solidFill>
                          <a:latin typeface="Times New Roman Bold"/>
                          <a:ea typeface="Times New Roman Bold"/>
                          <a:cs typeface="Times New Roman Bold"/>
                          <a:sym typeface="Times New Roman Bold"/>
                        </a:rPr>
                        <a:t>Description</a:t>
                      </a:r>
                      <a:endParaRPr lang="en-US" sz="1100"/>
                    </a:p>
                  </a:txBody>
                  <a:tcPr marL="0" marR="0" marT="0" marB="0" anchor="ctr">
                    <a:lnL cmpd="sng" algn="ctr" cap="flat" w="47625">
                      <a:solidFill>
                        <a:srgbClr val="000000"/>
                      </a:solidFill>
                      <a:prstDash val="solid"/>
                      <a:round/>
                      <a:headEnd type="none" w="med" len="med"/>
                      <a:tailEnd type="none" w="med" len="med"/>
                    </a:lnL>
                    <a:lnR cmpd="sng" algn="ctr" cap="flat" w="47625">
                      <a:solidFill>
                        <a:srgbClr val="000000"/>
                      </a:solidFill>
                      <a:prstDash val="solid"/>
                      <a:round/>
                      <a:headEnd type="none" w="med" len="med"/>
                      <a:tailEnd type="none" w="med" len="med"/>
                    </a:lnR>
                    <a:lnT cmpd="sng" algn="ctr" cap="flat" w="47625">
                      <a:solidFill>
                        <a:srgbClr val="000000"/>
                      </a:solidFill>
                      <a:prstDash val="solid"/>
                      <a:round/>
                      <a:headEnd type="none" w="med" len="med"/>
                      <a:tailEnd type="none" w="med" len="med"/>
                    </a:lnT>
                    <a:lnB cmpd="sng" algn="ctr" cap="flat" w="47625">
                      <a:solidFill>
                        <a:srgbClr val="000000"/>
                      </a:solidFill>
                      <a:prstDash val="solid"/>
                      <a:round/>
                      <a:headEnd type="none" w="med" len="med"/>
                      <a:tailEnd type="none" w="med" len="med"/>
                    </a:lnB>
                  </a:tcPr>
                </a:tc>
              </a:tr>
              <a:tr h="943337">
                <a:tc>
                  <a:txBody>
                    <a:bodyPr anchor="t" rtlCol="false"/>
                    <a:lstStyle/>
                    <a:p>
                      <a:pPr algn="ctr">
                        <a:lnSpc>
                          <a:spcPts val="5235"/>
                        </a:lnSpc>
                        <a:defRPr/>
                      </a:pPr>
                      <a:r>
                        <a:rPr lang="en-US" b="true" sz="2799" spc="139">
                          <a:solidFill>
                            <a:srgbClr val="000000"/>
                          </a:solidFill>
                          <a:latin typeface="Times New Roman Bold"/>
                          <a:ea typeface="Times New Roman Bold"/>
                          <a:cs typeface="Times New Roman Bold"/>
                          <a:sym typeface="Times New Roman Bold"/>
                        </a:rPr>
                        <a:t>/api/show</a:t>
                      </a:r>
                      <a:endParaRPr lang="en-US" sz="1100"/>
                    </a:p>
                  </a:txBody>
                  <a:tcPr marL="0" marR="0" marT="0" marB="0" anchor="ctr">
                    <a:lnL cmpd="sng" algn="ctr" cap="flat" w="47625">
                      <a:solidFill>
                        <a:srgbClr val="000000"/>
                      </a:solidFill>
                      <a:prstDash val="solid"/>
                      <a:round/>
                      <a:headEnd type="none" w="med" len="med"/>
                      <a:tailEnd type="none" w="med" len="med"/>
                    </a:lnL>
                    <a:lnR cmpd="sng" algn="ctr" cap="flat" w="47625">
                      <a:solidFill>
                        <a:srgbClr val="000000"/>
                      </a:solidFill>
                      <a:prstDash val="solid"/>
                      <a:round/>
                      <a:headEnd type="none" w="med" len="med"/>
                      <a:tailEnd type="none" w="med" len="med"/>
                    </a:lnR>
                    <a:lnT cmpd="sng" algn="ctr" cap="flat" w="47625">
                      <a:solidFill>
                        <a:srgbClr val="000000"/>
                      </a:solidFill>
                      <a:prstDash val="solid"/>
                      <a:round/>
                      <a:headEnd type="none" w="med" len="med"/>
                      <a:tailEnd type="none" w="med" len="med"/>
                    </a:lnT>
                    <a:lnB cmpd="sng" algn="ctr" cap="flat" w="47625">
                      <a:solidFill>
                        <a:srgbClr val="000000"/>
                      </a:solidFill>
                      <a:prstDash val="solid"/>
                      <a:round/>
                      <a:headEnd type="none" w="med" len="med"/>
                      <a:tailEnd type="none" w="med" len="med"/>
                    </a:lnB>
                  </a:tcPr>
                </a:tc>
                <a:tc>
                  <a:txBody>
                    <a:bodyPr anchor="t" rtlCol="false"/>
                    <a:lstStyle/>
                    <a:p>
                      <a:pPr algn="ctr">
                        <a:lnSpc>
                          <a:spcPts val="5235"/>
                        </a:lnSpc>
                        <a:defRPr/>
                      </a:pPr>
                      <a:r>
                        <a:rPr lang="en-US" b="true" sz="2799" spc="139">
                          <a:solidFill>
                            <a:srgbClr val="000000"/>
                          </a:solidFill>
                          <a:latin typeface="Times New Roman Bold"/>
                          <a:ea typeface="Times New Roman Bold"/>
                          <a:cs typeface="Times New Roman Bold"/>
                          <a:sym typeface="Times New Roman Bold"/>
                        </a:rPr>
                        <a:t>GET</a:t>
                      </a:r>
                      <a:endParaRPr lang="en-US" sz="1100"/>
                    </a:p>
                  </a:txBody>
                  <a:tcPr marL="0" marR="0" marT="0" marB="0" anchor="ctr">
                    <a:lnL cmpd="sng" algn="ctr" cap="flat" w="47625">
                      <a:solidFill>
                        <a:srgbClr val="000000"/>
                      </a:solidFill>
                      <a:prstDash val="solid"/>
                      <a:round/>
                      <a:headEnd type="none" w="med" len="med"/>
                      <a:tailEnd type="none" w="med" len="med"/>
                    </a:lnL>
                    <a:lnR cmpd="sng" algn="ctr" cap="flat" w="47625">
                      <a:solidFill>
                        <a:srgbClr val="000000"/>
                      </a:solidFill>
                      <a:prstDash val="solid"/>
                      <a:round/>
                      <a:headEnd type="none" w="med" len="med"/>
                      <a:tailEnd type="none" w="med" len="med"/>
                    </a:lnR>
                    <a:lnT cmpd="sng" algn="ctr" cap="flat" w="47625">
                      <a:solidFill>
                        <a:srgbClr val="000000"/>
                      </a:solidFill>
                      <a:prstDash val="solid"/>
                      <a:round/>
                      <a:headEnd type="none" w="med" len="med"/>
                      <a:tailEnd type="none" w="med" len="med"/>
                    </a:lnT>
                    <a:lnB cmpd="sng" algn="ctr" cap="flat" w="47625">
                      <a:solidFill>
                        <a:srgbClr val="000000"/>
                      </a:solidFill>
                      <a:prstDash val="solid"/>
                      <a:round/>
                      <a:headEnd type="none" w="med" len="med"/>
                      <a:tailEnd type="none" w="med" len="med"/>
                    </a:lnB>
                  </a:tcPr>
                </a:tc>
                <a:tc>
                  <a:txBody>
                    <a:bodyPr anchor="t" rtlCol="false"/>
                    <a:lstStyle/>
                    <a:p>
                      <a:pPr algn="ctr">
                        <a:lnSpc>
                          <a:spcPts val="5236"/>
                        </a:lnSpc>
                        <a:defRPr/>
                      </a:pPr>
                      <a:r>
                        <a:rPr lang="en-US" b="true" sz="2800" spc="140">
                          <a:solidFill>
                            <a:srgbClr val="000000"/>
                          </a:solidFill>
                          <a:latin typeface="Times New Roman Bold"/>
                          <a:ea typeface="Times New Roman Bold"/>
                          <a:cs typeface="Times New Roman Bold"/>
                          <a:sym typeface="Times New Roman Bold"/>
                        </a:rPr>
                        <a:t>Fetch available shows</a:t>
                      </a:r>
                      <a:endParaRPr lang="en-US" sz="1100"/>
                    </a:p>
                  </a:txBody>
                  <a:tcPr marL="0" marR="0" marT="0" marB="0" anchor="ctr">
                    <a:lnL cmpd="sng" algn="ctr" cap="flat" w="47625">
                      <a:solidFill>
                        <a:srgbClr val="000000"/>
                      </a:solidFill>
                      <a:prstDash val="solid"/>
                      <a:round/>
                      <a:headEnd type="none" w="med" len="med"/>
                      <a:tailEnd type="none" w="med" len="med"/>
                    </a:lnL>
                    <a:lnR cmpd="sng" algn="ctr" cap="flat" w="47625">
                      <a:solidFill>
                        <a:srgbClr val="000000"/>
                      </a:solidFill>
                      <a:prstDash val="solid"/>
                      <a:round/>
                      <a:headEnd type="none" w="med" len="med"/>
                      <a:tailEnd type="none" w="med" len="med"/>
                    </a:lnR>
                    <a:lnT cmpd="sng" algn="ctr" cap="flat" w="47625">
                      <a:solidFill>
                        <a:srgbClr val="000000"/>
                      </a:solidFill>
                      <a:prstDash val="solid"/>
                      <a:round/>
                      <a:headEnd type="none" w="med" len="med"/>
                      <a:tailEnd type="none" w="med" len="med"/>
                    </a:lnT>
                    <a:lnB cmpd="sng" algn="ctr" cap="flat" w="47625">
                      <a:solidFill>
                        <a:srgbClr val="000000"/>
                      </a:solidFill>
                      <a:prstDash val="solid"/>
                      <a:round/>
                      <a:headEnd type="none" w="med" len="med"/>
                      <a:tailEnd type="none" w="med" len="med"/>
                    </a:lnB>
                  </a:tcPr>
                </a:tc>
              </a:tr>
              <a:tr h="959589">
                <a:tc>
                  <a:txBody>
                    <a:bodyPr anchor="t" rtlCol="false"/>
                    <a:lstStyle/>
                    <a:p>
                      <a:pPr algn="ctr">
                        <a:lnSpc>
                          <a:spcPts val="5235"/>
                        </a:lnSpc>
                        <a:defRPr/>
                      </a:pPr>
                      <a:r>
                        <a:rPr lang="en-US" b="true" sz="2799" spc="139">
                          <a:solidFill>
                            <a:srgbClr val="000000"/>
                          </a:solidFill>
                          <a:latin typeface="Times New Roman Bold"/>
                          <a:ea typeface="Times New Roman Bold"/>
                          <a:cs typeface="Times New Roman Bold"/>
                          <a:sym typeface="Times New Roman Bold"/>
                        </a:rPr>
                        <a:t>/api/booking</a:t>
                      </a:r>
                      <a:endParaRPr lang="en-US" sz="1100"/>
                    </a:p>
                  </a:txBody>
                  <a:tcPr marL="0" marR="0" marT="0" marB="0" anchor="ctr">
                    <a:lnL cmpd="sng" algn="ctr" cap="flat" w="47625">
                      <a:solidFill>
                        <a:srgbClr val="000000"/>
                      </a:solidFill>
                      <a:prstDash val="solid"/>
                      <a:round/>
                      <a:headEnd type="none" w="med" len="med"/>
                      <a:tailEnd type="none" w="med" len="med"/>
                    </a:lnL>
                    <a:lnR cmpd="sng" algn="ctr" cap="flat" w="47625">
                      <a:solidFill>
                        <a:srgbClr val="000000"/>
                      </a:solidFill>
                      <a:prstDash val="solid"/>
                      <a:round/>
                      <a:headEnd type="none" w="med" len="med"/>
                      <a:tailEnd type="none" w="med" len="med"/>
                    </a:lnR>
                    <a:lnT cmpd="sng" algn="ctr" cap="flat" w="47625">
                      <a:solidFill>
                        <a:srgbClr val="000000"/>
                      </a:solidFill>
                      <a:prstDash val="solid"/>
                      <a:round/>
                      <a:headEnd type="none" w="med" len="med"/>
                      <a:tailEnd type="none" w="med" len="med"/>
                    </a:lnT>
                    <a:lnB cmpd="sng" algn="ctr" cap="flat" w="47625">
                      <a:solidFill>
                        <a:srgbClr val="000000"/>
                      </a:solidFill>
                      <a:prstDash val="solid"/>
                      <a:round/>
                      <a:headEnd type="none" w="med" len="med"/>
                      <a:tailEnd type="none" w="med" len="med"/>
                    </a:lnB>
                  </a:tcPr>
                </a:tc>
                <a:tc>
                  <a:txBody>
                    <a:bodyPr anchor="t" rtlCol="false"/>
                    <a:lstStyle/>
                    <a:p>
                      <a:pPr algn="ctr">
                        <a:lnSpc>
                          <a:spcPts val="5422"/>
                        </a:lnSpc>
                        <a:defRPr/>
                      </a:pPr>
                      <a:r>
                        <a:rPr lang="en-US" b="true" sz="2899" spc="144">
                          <a:solidFill>
                            <a:srgbClr val="000000"/>
                          </a:solidFill>
                          <a:latin typeface="Times New Roman Bold"/>
                          <a:ea typeface="Times New Roman Bold"/>
                          <a:cs typeface="Times New Roman Bold"/>
                          <a:sym typeface="Times New Roman Bold"/>
                        </a:rPr>
                        <a:t>POST</a:t>
                      </a:r>
                      <a:endParaRPr lang="en-US" sz="1100"/>
                    </a:p>
                  </a:txBody>
                  <a:tcPr marL="0" marR="0" marT="0" marB="0" anchor="ctr">
                    <a:lnL cmpd="sng" algn="ctr" cap="flat" w="47625">
                      <a:solidFill>
                        <a:srgbClr val="000000"/>
                      </a:solidFill>
                      <a:prstDash val="solid"/>
                      <a:round/>
                      <a:headEnd type="none" w="med" len="med"/>
                      <a:tailEnd type="none" w="med" len="med"/>
                    </a:lnL>
                    <a:lnR cmpd="sng" algn="ctr" cap="flat" w="47625">
                      <a:solidFill>
                        <a:srgbClr val="000000"/>
                      </a:solidFill>
                      <a:prstDash val="solid"/>
                      <a:round/>
                      <a:headEnd type="none" w="med" len="med"/>
                      <a:tailEnd type="none" w="med" len="med"/>
                    </a:lnR>
                    <a:lnT cmpd="sng" algn="ctr" cap="flat" w="47625">
                      <a:solidFill>
                        <a:srgbClr val="000000"/>
                      </a:solidFill>
                      <a:prstDash val="solid"/>
                      <a:round/>
                      <a:headEnd type="none" w="med" len="med"/>
                      <a:tailEnd type="none" w="med" len="med"/>
                    </a:lnT>
                    <a:lnB cmpd="sng" algn="ctr" cap="flat" w="47625">
                      <a:solidFill>
                        <a:srgbClr val="000000"/>
                      </a:solidFill>
                      <a:prstDash val="solid"/>
                      <a:round/>
                      <a:headEnd type="none" w="med" len="med"/>
                      <a:tailEnd type="none" w="med" len="med"/>
                    </a:lnB>
                  </a:tcPr>
                </a:tc>
                <a:tc>
                  <a:txBody>
                    <a:bodyPr anchor="t" rtlCol="false"/>
                    <a:lstStyle/>
                    <a:p>
                      <a:pPr algn="ctr">
                        <a:lnSpc>
                          <a:spcPts val="5235"/>
                        </a:lnSpc>
                        <a:defRPr/>
                      </a:pPr>
                      <a:r>
                        <a:rPr lang="en-US" b="true" sz="2799" spc="139">
                          <a:solidFill>
                            <a:srgbClr val="000000"/>
                          </a:solidFill>
                          <a:latin typeface="Times New Roman Bold"/>
                          <a:ea typeface="Times New Roman Bold"/>
                          <a:cs typeface="Times New Roman Bold"/>
                          <a:sym typeface="Times New Roman Bold"/>
                        </a:rPr>
                        <a:t>Create a new booking</a:t>
                      </a:r>
                      <a:endParaRPr lang="en-US" sz="1100"/>
                    </a:p>
                  </a:txBody>
                  <a:tcPr marL="0" marR="0" marT="0" marB="0" anchor="ctr">
                    <a:lnL cmpd="sng" algn="ctr" cap="flat" w="47625">
                      <a:solidFill>
                        <a:srgbClr val="000000"/>
                      </a:solidFill>
                      <a:prstDash val="solid"/>
                      <a:round/>
                      <a:headEnd type="none" w="med" len="med"/>
                      <a:tailEnd type="none" w="med" len="med"/>
                    </a:lnL>
                    <a:lnR cmpd="sng" algn="ctr" cap="flat" w="47625">
                      <a:solidFill>
                        <a:srgbClr val="000000"/>
                      </a:solidFill>
                      <a:prstDash val="solid"/>
                      <a:round/>
                      <a:headEnd type="none" w="med" len="med"/>
                      <a:tailEnd type="none" w="med" len="med"/>
                    </a:lnR>
                    <a:lnT cmpd="sng" algn="ctr" cap="flat" w="47625">
                      <a:solidFill>
                        <a:srgbClr val="000000"/>
                      </a:solidFill>
                      <a:prstDash val="solid"/>
                      <a:round/>
                      <a:headEnd type="none" w="med" len="med"/>
                      <a:tailEnd type="none" w="med" len="med"/>
                    </a:lnT>
                    <a:lnB cmpd="sng" algn="ctr" cap="flat" w="47625">
                      <a:solidFill>
                        <a:srgbClr val="000000"/>
                      </a:solidFill>
                      <a:prstDash val="solid"/>
                      <a:round/>
                      <a:headEnd type="none" w="med" len="med"/>
                      <a:tailEnd type="none" w="med" len="med"/>
                    </a:lnB>
                  </a:tcPr>
                </a:tc>
              </a:tr>
              <a:tr h="857780">
                <a:tc>
                  <a:txBody>
                    <a:bodyPr anchor="t" rtlCol="false"/>
                    <a:lstStyle/>
                    <a:p>
                      <a:pPr algn="ctr">
                        <a:lnSpc>
                          <a:spcPts val="5235"/>
                        </a:lnSpc>
                        <a:defRPr/>
                      </a:pPr>
                      <a:r>
                        <a:rPr lang="en-US" b="true" sz="2799" spc="139">
                          <a:solidFill>
                            <a:srgbClr val="000000"/>
                          </a:solidFill>
                          <a:latin typeface="Times New Roman Bold"/>
                          <a:ea typeface="Times New Roman Bold"/>
                          <a:cs typeface="Times New Roman Bold"/>
                          <a:sym typeface="Times New Roman Bold"/>
                        </a:rPr>
                        <a:t>/api/user/bookings</a:t>
                      </a:r>
                      <a:endParaRPr lang="en-US" sz="1100"/>
                    </a:p>
                  </a:txBody>
                  <a:tcPr marL="0" marR="0" marT="0" marB="0" anchor="ctr">
                    <a:lnL cmpd="sng" algn="ctr" cap="flat" w="47625">
                      <a:solidFill>
                        <a:srgbClr val="000000"/>
                      </a:solidFill>
                      <a:prstDash val="solid"/>
                      <a:round/>
                      <a:headEnd type="none" w="med" len="med"/>
                      <a:tailEnd type="none" w="med" len="med"/>
                    </a:lnL>
                    <a:lnR cmpd="sng" algn="ctr" cap="flat" w="47625">
                      <a:solidFill>
                        <a:srgbClr val="000000"/>
                      </a:solidFill>
                      <a:prstDash val="solid"/>
                      <a:round/>
                      <a:headEnd type="none" w="med" len="med"/>
                      <a:tailEnd type="none" w="med" len="med"/>
                    </a:lnR>
                    <a:lnT cmpd="sng" algn="ctr" cap="flat" w="47625">
                      <a:solidFill>
                        <a:srgbClr val="000000"/>
                      </a:solidFill>
                      <a:prstDash val="solid"/>
                      <a:round/>
                      <a:headEnd type="none" w="med" len="med"/>
                      <a:tailEnd type="none" w="med" len="med"/>
                    </a:lnT>
                    <a:lnB cmpd="sng" algn="ctr" cap="flat" w="47625">
                      <a:solidFill>
                        <a:srgbClr val="000000"/>
                      </a:solidFill>
                      <a:prstDash val="solid"/>
                      <a:round/>
                      <a:headEnd type="none" w="med" len="med"/>
                      <a:tailEnd type="none" w="med" len="med"/>
                    </a:lnB>
                  </a:tcPr>
                </a:tc>
                <a:tc>
                  <a:txBody>
                    <a:bodyPr anchor="t" rtlCol="false"/>
                    <a:lstStyle/>
                    <a:p>
                      <a:pPr algn="ctr">
                        <a:lnSpc>
                          <a:spcPts val="5422"/>
                        </a:lnSpc>
                        <a:defRPr/>
                      </a:pPr>
                      <a:r>
                        <a:rPr lang="en-US" b="true" sz="2899" spc="144">
                          <a:solidFill>
                            <a:srgbClr val="000000"/>
                          </a:solidFill>
                          <a:latin typeface="Times New Roman Bold"/>
                          <a:ea typeface="Times New Roman Bold"/>
                          <a:cs typeface="Times New Roman Bold"/>
                          <a:sym typeface="Times New Roman Bold"/>
                        </a:rPr>
                        <a:t>GET</a:t>
                      </a:r>
                      <a:endParaRPr lang="en-US" sz="1100"/>
                    </a:p>
                  </a:txBody>
                  <a:tcPr marL="0" marR="0" marT="0" marB="0" anchor="ctr">
                    <a:lnL cmpd="sng" algn="ctr" cap="flat" w="47625">
                      <a:solidFill>
                        <a:srgbClr val="000000"/>
                      </a:solidFill>
                      <a:prstDash val="solid"/>
                      <a:round/>
                      <a:headEnd type="none" w="med" len="med"/>
                      <a:tailEnd type="none" w="med" len="med"/>
                    </a:lnL>
                    <a:lnR cmpd="sng" algn="ctr" cap="flat" w="47625">
                      <a:solidFill>
                        <a:srgbClr val="000000"/>
                      </a:solidFill>
                      <a:prstDash val="solid"/>
                      <a:round/>
                      <a:headEnd type="none" w="med" len="med"/>
                      <a:tailEnd type="none" w="med" len="med"/>
                    </a:lnR>
                    <a:lnT cmpd="sng" algn="ctr" cap="flat" w="47625">
                      <a:solidFill>
                        <a:srgbClr val="000000"/>
                      </a:solidFill>
                      <a:prstDash val="solid"/>
                      <a:round/>
                      <a:headEnd type="none" w="med" len="med"/>
                      <a:tailEnd type="none" w="med" len="med"/>
                    </a:lnT>
                    <a:lnB cmpd="sng" algn="ctr" cap="flat" w="47625">
                      <a:solidFill>
                        <a:srgbClr val="000000"/>
                      </a:solidFill>
                      <a:prstDash val="solid"/>
                      <a:round/>
                      <a:headEnd type="none" w="med" len="med"/>
                      <a:tailEnd type="none" w="med" len="med"/>
                    </a:lnB>
                  </a:tcPr>
                </a:tc>
                <a:tc>
                  <a:txBody>
                    <a:bodyPr anchor="t" rtlCol="false"/>
                    <a:lstStyle/>
                    <a:p>
                      <a:pPr algn="ctr">
                        <a:lnSpc>
                          <a:spcPts val="5235"/>
                        </a:lnSpc>
                        <a:defRPr/>
                      </a:pPr>
                      <a:r>
                        <a:rPr lang="en-US" b="true" sz="2799" spc="139">
                          <a:solidFill>
                            <a:srgbClr val="000000"/>
                          </a:solidFill>
                          <a:latin typeface="Times New Roman Bold"/>
                          <a:ea typeface="Times New Roman Bold"/>
                          <a:cs typeface="Times New Roman Bold"/>
                          <a:sym typeface="Times New Roman Bold"/>
                        </a:rPr>
                        <a:t>Get all user bookings</a:t>
                      </a:r>
                      <a:endParaRPr lang="en-US" sz="1100"/>
                    </a:p>
                  </a:txBody>
                  <a:tcPr marL="0" marR="0" marT="0" marB="0" anchor="ctr">
                    <a:lnL cmpd="sng" algn="ctr" cap="flat" w="47625">
                      <a:solidFill>
                        <a:srgbClr val="000000"/>
                      </a:solidFill>
                      <a:prstDash val="solid"/>
                      <a:round/>
                      <a:headEnd type="none" w="med" len="med"/>
                      <a:tailEnd type="none" w="med" len="med"/>
                    </a:lnL>
                    <a:lnR cmpd="sng" algn="ctr" cap="flat" w="47625">
                      <a:solidFill>
                        <a:srgbClr val="000000"/>
                      </a:solidFill>
                      <a:prstDash val="solid"/>
                      <a:round/>
                      <a:headEnd type="none" w="med" len="med"/>
                      <a:tailEnd type="none" w="med" len="med"/>
                    </a:lnR>
                    <a:lnT cmpd="sng" algn="ctr" cap="flat" w="47625">
                      <a:solidFill>
                        <a:srgbClr val="000000"/>
                      </a:solidFill>
                      <a:prstDash val="solid"/>
                      <a:round/>
                      <a:headEnd type="none" w="med" len="med"/>
                      <a:tailEnd type="none" w="med" len="med"/>
                    </a:lnT>
                    <a:lnB cmpd="sng" algn="ctr" cap="flat" w="47625">
                      <a:solidFill>
                        <a:srgbClr val="000000"/>
                      </a:solidFill>
                      <a:prstDash val="solid"/>
                      <a:round/>
                      <a:headEnd type="none" w="med" len="med"/>
                      <a:tailEnd type="none" w="med" len="med"/>
                    </a:lnB>
                  </a:tcPr>
                </a:tc>
              </a:tr>
              <a:tr h="1096145">
                <a:tc>
                  <a:txBody>
                    <a:bodyPr anchor="t" rtlCol="false"/>
                    <a:lstStyle/>
                    <a:p>
                      <a:pPr algn="ctr">
                        <a:lnSpc>
                          <a:spcPts val="5235"/>
                        </a:lnSpc>
                        <a:defRPr/>
                      </a:pPr>
                      <a:r>
                        <a:rPr lang="en-US" b="true" sz="2799" spc="139">
                          <a:solidFill>
                            <a:srgbClr val="000000"/>
                          </a:solidFill>
                          <a:latin typeface="Times New Roman Bold"/>
                          <a:ea typeface="Times New Roman Bold"/>
                          <a:cs typeface="Times New Roman Bold"/>
                          <a:sym typeface="Times New Roman Bold"/>
                        </a:rPr>
                        <a:t>/api/user/update-favourite</a:t>
                      </a:r>
                      <a:endParaRPr lang="en-US" sz="1100"/>
                    </a:p>
                  </a:txBody>
                  <a:tcPr marL="0" marR="0" marT="0" marB="0" anchor="ctr">
                    <a:lnL cmpd="sng" algn="ctr" cap="flat" w="47625">
                      <a:solidFill>
                        <a:srgbClr val="000000"/>
                      </a:solidFill>
                      <a:prstDash val="solid"/>
                      <a:round/>
                      <a:headEnd type="none" w="med" len="med"/>
                      <a:tailEnd type="none" w="med" len="med"/>
                    </a:lnL>
                    <a:lnR cmpd="sng" algn="ctr" cap="flat" w="47625">
                      <a:solidFill>
                        <a:srgbClr val="000000"/>
                      </a:solidFill>
                      <a:prstDash val="solid"/>
                      <a:round/>
                      <a:headEnd type="none" w="med" len="med"/>
                      <a:tailEnd type="none" w="med" len="med"/>
                    </a:lnR>
                    <a:lnT cmpd="sng" algn="ctr" cap="flat" w="47625">
                      <a:solidFill>
                        <a:srgbClr val="000000"/>
                      </a:solidFill>
                      <a:prstDash val="solid"/>
                      <a:round/>
                      <a:headEnd type="none" w="med" len="med"/>
                      <a:tailEnd type="none" w="med" len="med"/>
                    </a:lnT>
                    <a:lnB cmpd="sng" algn="ctr" cap="flat" w="47625">
                      <a:solidFill>
                        <a:srgbClr val="000000"/>
                      </a:solidFill>
                      <a:prstDash val="solid"/>
                      <a:round/>
                      <a:headEnd type="none" w="med" len="med"/>
                      <a:tailEnd type="none" w="med" len="med"/>
                    </a:lnB>
                  </a:tcPr>
                </a:tc>
                <a:tc>
                  <a:txBody>
                    <a:bodyPr anchor="t" rtlCol="false"/>
                    <a:lstStyle/>
                    <a:p>
                      <a:pPr algn="ctr">
                        <a:lnSpc>
                          <a:spcPts val="5235"/>
                        </a:lnSpc>
                        <a:defRPr/>
                      </a:pPr>
                      <a:r>
                        <a:rPr lang="en-US" b="true" sz="2799" spc="139">
                          <a:solidFill>
                            <a:srgbClr val="000000"/>
                          </a:solidFill>
                          <a:latin typeface="Times New Roman Bold"/>
                          <a:ea typeface="Times New Roman Bold"/>
                          <a:cs typeface="Times New Roman Bold"/>
                          <a:sym typeface="Times New Roman Bold"/>
                        </a:rPr>
                        <a:t>POST</a:t>
                      </a:r>
                      <a:endParaRPr lang="en-US" sz="1100"/>
                    </a:p>
                  </a:txBody>
                  <a:tcPr marL="0" marR="0" marT="0" marB="0" anchor="ctr">
                    <a:lnL cmpd="sng" algn="ctr" cap="flat" w="47625">
                      <a:solidFill>
                        <a:srgbClr val="000000"/>
                      </a:solidFill>
                      <a:prstDash val="solid"/>
                      <a:round/>
                      <a:headEnd type="none" w="med" len="med"/>
                      <a:tailEnd type="none" w="med" len="med"/>
                    </a:lnL>
                    <a:lnR cmpd="sng" algn="ctr" cap="flat" w="47625">
                      <a:solidFill>
                        <a:srgbClr val="000000"/>
                      </a:solidFill>
                      <a:prstDash val="solid"/>
                      <a:round/>
                      <a:headEnd type="none" w="med" len="med"/>
                      <a:tailEnd type="none" w="med" len="med"/>
                    </a:lnR>
                    <a:lnT cmpd="sng" algn="ctr" cap="flat" w="47625">
                      <a:solidFill>
                        <a:srgbClr val="000000"/>
                      </a:solidFill>
                      <a:prstDash val="solid"/>
                      <a:round/>
                      <a:headEnd type="none" w="med" len="med"/>
                      <a:tailEnd type="none" w="med" len="med"/>
                    </a:lnT>
                    <a:lnB cmpd="sng" algn="ctr" cap="flat" w="47625">
                      <a:solidFill>
                        <a:srgbClr val="000000"/>
                      </a:solidFill>
                      <a:prstDash val="solid"/>
                      <a:round/>
                      <a:headEnd type="none" w="med" len="med"/>
                      <a:tailEnd type="none" w="med" len="med"/>
                    </a:lnB>
                  </a:tcPr>
                </a:tc>
                <a:tc>
                  <a:txBody>
                    <a:bodyPr anchor="t" rtlCol="false"/>
                    <a:lstStyle/>
                    <a:p>
                      <a:pPr algn="ctr">
                        <a:lnSpc>
                          <a:spcPts val="5235"/>
                        </a:lnSpc>
                        <a:defRPr/>
                      </a:pPr>
                      <a:r>
                        <a:rPr lang="en-US" b="true" sz="2799" spc="139">
                          <a:solidFill>
                            <a:srgbClr val="000000"/>
                          </a:solidFill>
                          <a:latin typeface="Times New Roman Bold"/>
                          <a:ea typeface="Times New Roman Bold"/>
                          <a:cs typeface="Times New Roman Bold"/>
                          <a:sym typeface="Times New Roman Bold"/>
                        </a:rPr>
                        <a:t>Add or remove favorite movies</a:t>
                      </a:r>
                      <a:endParaRPr lang="en-US" sz="1100"/>
                    </a:p>
                  </a:txBody>
                  <a:tcPr marL="0" marR="0" marT="0" marB="0" anchor="ctr">
                    <a:lnL cmpd="sng" algn="ctr" cap="flat" w="47625">
                      <a:solidFill>
                        <a:srgbClr val="000000"/>
                      </a:solidFill>
                      <a:prstDash val="solid"/>
                      <a:round/>
                      <a:headEnd type="none" w="med" len="med"/>
                      <a:tailEnd type="none" w="med" len="med"/>
                    </a:lnL>
                    <a:lnR cmpd="sng" algn="ctr" cap="flat" w="47625">
                      <a:solidFill>
                        <a:srgbClr val="000000"/>
                      </a:solidFill>
                      <a:prstDash val="solid"/>
                      <a:round/>
                      <a:headEnd type="none" w="med" len="med"/>
                      <a:tailEnd type="none" w="med" len="med"/>
                    </a:lnR>
                    <a:lnT cmpd="sng" algn="ctr" cap="flat" w="47625">
                      <a:solidFill>
                        <a:srgbClr val="000000"/>
                      </a:solidFill>
                      <a:prstDash val="solid"/>
                      <a:round/>
                      <a:headEnd type="none" w="med" len="med"/>
                      <a:tailEnd type="none" w="med" len="med"/>
                    </a:lnT>
                    <a:lnB cmpd="sng" algn="ctr" cap="flat" w="47625">
                      <a:solidFill>
                        <a:srgbClr val="000000"/>
                      </a:solidFill>
                      <a:prstDash val="solid"/>
                      <a:round/>
                      <a:headEnd type="none" w="med" len="med"/>
                      <a:tailEnd type="none" w="med" len="med"/>
                    </a:lnB>
                  </a:tcPr>
                </a:tc>
              </a:tr>
              <a:tr h="1017235">
                <a:tc>
                  <a:txBody>
                    <a:bodyPr anchor="t" rtlCol="false"/>
                    <a:lstStyle/>
                    <a:p>
                      <a:pPr algn="ctr">
                        <a:lnSpc>
                          <a:spcPts val="5235"/>
                        </a:lnSpc>
                        <a:defRPr/>
                      </a:pPr>
                      <a:r>
                        <a:rPr lang="en-US" b="true" sz="2799" spc="139">
                          <a:solidFill>
                            <a:srgbClr val="000000"/>
                          </a:solidFill>
                          <a:latin typeface="Times New Roman Bold"/>
                          <a:ea typeface="Times New Roman Bold"/>
                          <a:cs typeface="Times New Roman Bold"/>
                          <a:sym typeface="Times New Roman Bold"/>
                        </a:rPr>
                        <a:t>/api/user/favourites</a:t>
                      </a:r>
                      <a:endParaRPr lang="en-US" sz="1100"/>
                    </a:p>
                  </a:txBody>
                  <a:tcPr marL="0" marR="0" marT="0" marB="0" anchor="ctr">
                    <a:lnL cmpd="sng" algn="ctr" cap="flat" w="47625">
                      <a:solidFill>
                        <a:srgbClr val="000000"/>
                      </a:solidFill>
                      <a:prstDash val="solid"/>
                      <a:round/>
                      <a:headEnd type="none" w="med" len="med"/>
                      <a:tailEnd type="none" w="med" len="med"/>
                    </a:lnL>
                    <a:lnR cmpd="sng" algn="ctr" cap="flat" w="47625">
                      <a:solidFill>
                        <a:srgbClr val="000000"/>
                      </a:solidFill>
                      <a:prstDash val="solid"/>
                      <a:round/>
                      <a:headEnd type="none" w="med" len="med"/>
                      <a:tailEnd type="none" w="med" len="med"/>
                    </a:lnR>
                    <a:lnT cmpd="sng" algn="ctr" cap="flat" w="47625">
                      <a:solidFill>
                        <a:srgbClr val="000000"/>
                      </a:solidFill>
                      <a:prstDash val="solid"/>
                      <a:round/>
                      <a:headEnd type="none" w="med" len="med"/>
                      <a:tailEnd type="none" w="med" len="med"/>
                    </a:lnT>
                    <a:lnB cmpd="sng" algn="ctr" cap="flat" w="47625">
                      <a:solidFill>
                        <a:srgbClr val="000000"/>
                      </a:solidFill>
                      <a:prstDash val="solid"/>
                      <a:round/>
                      <a:headEnd type="none" w="med" len="med"/>
                      <a:tailEnd type="none" w="med" len="med"/>
                    </a:lnB>
                  </a:tcPr>
                </a:tc>
                <a:tc>
                  <a:txBody>
                    <a:bodyPr anchor="t" rtlCol="false"/>
                    <a:lstStyle/>
                    <a:p>
                      <a:pPr algn="ctr">
                        <a:lnSpc>
                          <a:spcPts val="5235"/>
                        </a:lnSpc>
                        <a:defRPr/>
                      </a:pPr>
                      <a:r>
                        <a:rPr lang="en-US" b="true" sz="2799" spc="139">
                          <a:solidFill>
                            <a:srgbClr val="000000"/>
                          </a:solidFill>
                          <a:latin typeface="Times New Roman Bold"/>
                          <a:ea typeface="Times New Roman Bold"/>
                          <a:cs typeface="Times New Roman Bold"/>
                          <a:sym typeface="Times New Roman Bold"/>
                        </a:rPr>
                        <a:t>GET</a:t>
                      </a:r>
                      <a:endParaRPr lang="en-US" sz="1100"/>
                    </a:p>
                  </a:txBody>
                  <a:tcPr marL="0" marR="0" marT="0" marB="0" anchor="ctr">
                    <a:lnL cmpd="sng" algn="ctr" cap="flat" w="47625">
                      <a:solidFill>
                        <a:srgbClr val="000000"/>
                      </a:solidFill>
                      <a:prstDash val="solid"/>
                      <a:round/>
                      <a:headEnd type="none" w="med" len="med"/>
                      <a:tailEnd type="none" w="med" len="med"/>
                    </a:lnL>
                    <a:lnR cmpd="sng" algn="ctr" cap="flat" w="47625">
                      <a:solidFill>
                        <a:srgbClr val="000000"/>
                      </a:solidFill>
                      <a:prstDash val="solid"/>
                      <a:round/>
                      <a:headEnd type="none" w="med" len="med"/>
                      <a:tailEnd type="none" w="med" len="med"/>
                    </a:lnR>
                    <a:lnT cmpd="sng" algn="ctr" cap="flat" w="47625">
                      <a:solidFill>
                        <a:srgbClr val="000000"/>
                      </a:solidFill>
                      <a:prstDash val="solid"/>
                      <a:round/>
                      <a:headEnd type="none" w="med" len="med"/>
                      <a:tailEnd type="none" w="med" len="med"/>
                    </a:lnT>
                    <a:lnB cmpd="sng" algn="ctr" cap="flat" w="47625">
                      <a:solidFill>
                        <a:srgbClr val="000000"/>
                      </a:solidFill>
                      <a:prstDash val="solid"/>
                      <a:round/>
                      <a:headEnd type="none" w="med" len="med"/>
                      <a:tailEnd type="none" w="med" len="med"/>
                    </a:lnB>
                  </a:tcPr>
                </a:tc>
                <a:tc>
                  <a:txBody>
                    <a:bodyPr anchor="t" rtlCol="false"/>
                    <a:lstStyle/>
                    <a:p>
                      <a:pPr algn="ctr">
                        <a:lnSpc>
                          <a:spcPts val="5235"/>
                        </a:lnSpc>
                        <a:defRPr/>
                      </a:pPr>
                      <a:r>
                        <a:rPr lang="en-US" b="true" sz="2799" spc="139">
                          <a:solidFill>
                            <a:srgbClr val="000000"/>
                          </a:solidFill>
                          <a:latin typeface="Times New Roman Bold"/>
                          <a:ea typeface="Times New Roman Bold"/>
                          <a:cs typeface="Times New Roman Bold"/>
                          <a:sym typeface="Times New Roman Bold"/>
                        </a:rPr>
                        <a:t>Fetch user favorite movies</a:t>
                      </a:r>
                      <a:endParaRPr lang="en-US" sz="1100"/>
                    </a:p>
                  </a:txBody>
                  <a:tcPr marL="0" marR="0" marT="0" marB="0" anchor="ctr">
                    <a:lnL cmpd="sng" algn="ctr" cap="flat" w="47625">
                      <a:solidFill>
                        <a:srgbClr val="000000"/>
                      </a:solidFill>
                      <a:prstDash val="solid"/>
                      <a:round/>
                      <a:headEnd type="none" w="med" len="med"/>
                      <a:tailEnd type="none" w="med" len="med"/>
                    </a:lnL>
                    <a:lnR cmpd="sng" algn="ctr" cap="flat" w="47625">
                      <a:solidFill>
                        <a:srgbClr val="000000"/>
                      </a:solidFill>
                      <a:prstDash val="solid"/>
                      <a:round/>
                      <a:headEnd type="none" w="med" len="med"/>
                      <a:tailEnd type="none" w="med" len="med"/>
                    </a:lnR>
                    <a:lnT cmpd="sng" algn="ctr" cap="flat" w="47625">
                      <a:solidFill>
                        <a:srgbClr val="000000"/>
                      </a:solidFill>
                      <a:prstDash val="solid"/>
                      <a:round/>
                      <a:headEnd type="none" w="med" len="med"/>
                      <a:tailEnd type="none" w="med" len="med"/>
                    </a:lnT>
                    <a:lnB cmpd="sng" algn="ctr" cap="flat" w="47625">
                      <a:solidFill>
                        <a:srgbClr val="000000"/>
                      </a:solidFill>
                      <a:prstDash val="solid"/>
                      <a:round/>
                      <a:headEnd type="none" w="med" len="med"/>
                      <a:tailEnd type="none" w="med" len="med"/>
                    </a:lnB>
                  </a:tcPr>
                </a:tc>
              </a:tr>
              <a:tr h="968884">
                <a:tc>
                  <a:txBody>
                    <a:bodyPr anchor="t" rtlCol="false"/>
                    <a:lstStyle/>
                    <a:p>
                      <a:pPr algn="ctr">
                        <a:lnSpc>
                          <a:spcPts val="5235"/>
                        </a:lnSpc>
                        <a:defRPr/>
                      </a:pPr>
                      <a:r>
                        <a:rPr lang="en-US" b="true" sz="2799" spc="139">
                          <a:solidFill>
                            <a:srgbClr val="000000"/>
                          </a:solidFill>
                          <a:latin typeface="Times New Roman Bold"/>
                          <a:ea typeface="Times New Roman Bold"/>
                          <a:cs typeface="Times New Roman Bold"/>
                          <a:sym typeface="Times New Roman Bold"/>
                        </a:rPr>
                        <a:t>/api/admin/add-show</a:t>
                      </a:r>
                      <a:endParaRPr lang="en-US" sz="1100"/>
                    </a:p>
                  </a:txBody>
                  <a:tcPr marL="0" marR="0" marT="0" marB="0" anchor="ctr">
                    <a:lnL cmpd="sng" algn="ctr" cap="flat" w="47625">
                      <a:solidFill>
                        <a:srgbClr val="000000"/>
                      </a:solidFill>
                      <a:prstDash val="solid"/>
                      <a:round/>
                      <a:headEnd type="none" w="med" len="med"/>
                      <a:tailEnd type="none" w="med" len="med"/>
                    </a:lnL>
                    <a:lnR cmpd="sng" algn="ctr" cap="flat" w="47625">
                      <a:solidFill>
                        <a:srgbClr val="000000"/>
                      </a:solidFill>
                      <a:prstDash val="solid"/>
                      <a:round/>
                      <a:headEnd type="none" w="med" len="med"/>
                      <a:tailEnd type="none" w="med" len="med"/>
                    </a:lnR>
                    <a:lnT cmpd="sng" algn="ctr" cap="flat" w="47625">
                      <a:solidFill>
                        <a:srgbClr val="000000"/>
                      </a:solidFill>
                      <a:prstDash val="solid"/>
                      <a:round/>
                      <a:headEnd type="none" w="med" len="med"/>
                      <a:tailEnd type="none" w="med" len="med"/>
                    </a:lnT>
                    <a:lnB cmpd="sng" algn="ctr" cap="flat" w="47625">
                      <a:solidFill>
                        <a:srgbClr val="000000"/>
                      </a:solidFill>
                      <a:prstDash val="solid"/>
                      <a:round/>
                      <a:headEnd type="none" w="med" len="med"/>
                      <a:tailEnd type="none" w="med" len="med"/>
                    </a:lnB>
                  </a:tcPr>
                </a:tc>
                <a:tc>
                  <a:txBody>
                    <a:bodyPr anchor="t" rtlCol="false"/>
                    <a:lstStyle/>
                    <a:p>
                      <a:pPr algn="ctr">
                        <a:lnSpc>
                          <a:spcPts val="5235"/>
                        </a:lnSpc>
                        <a:defRPr/>
                      </a:pPr>
                      <a:r>
                        <a:rPr lang="en-US" b="true" sz="2799" spc="139">
                          <a:solidFill>
                            <a:srgbClr val="000000"/>
                          </a:solidFill>
                          <a:latin typeface="Times New Roman Bold"/>
                          <a:ea typeface="Times New Roman Bold"/>
                          <a:cs typeface="Times New Roman Bold"/>
                          <a:sym typeface="Times New Roman Bold"/>
                        </a:rPr>
                        <a:t>POST</a:t>
                      </a:r>
                      <a:endParaRPr lang="en-US" sz="1100"/>
                    </a:p>
                  </a:txBody>
                  <a:tcPr marL="0" marR="0" marT="0" marB="0" anchor="ctr">
                    <a:lnL cmpd="sng" algn="ctr" cap="flat" w="47625">
                      <a:solidFill>
                        <a:srgbClr val="000000"/>
                      </a:solidFill>
                      <a:prstDash val="solid"/>
                      <a:round/>
                      <a:headEnd type="none" w="med" len="med"/>
                      <a:tailEnd type="none" w="med" len="med"/>
                    </a:lnL>
                    <a:lnR cmpd="sng" algn="ctr" cap="flat" w="47625">
                      <a:solidFill>
                        <a:srgbClr val="000000"/>
                      </a:solidFill>
                      <a:prstDash val="solid"/>
                      <a:round/>
                      <a:headEnd type="none" w="med" len="med"/>
                      <a:tailEnd type="none" w="med" len="med"/>
                    </a:lnR>
                    <a:lnT cmpd="sng" algn="ctr" cap="flat" w="47625">
                      <a:solidFill>
                        <a:srgbClr val="000000"/>
                      </a:solidFill>
                      <a:prstDash val="solid"/>
                      <a:round/>
                      <a:headEnd type="none" w="med" len="med"/>
                      <a:tailEnd type="none" w="med" len="med"/>
                    </a:lnT>
                    <a:lnB cmpd="sng" algn="ctr" cap="flat" w="47625">
                      <a:solidFill>
                        <a:srgbClr val="000000"/>
                      </a:solidFill>
                      <a:prstDash val="solid"/>
                      <a:round/>
                      <a:headEnd type="none" w="med" len="med"/>
                      <a:tailEnd type="none" w="med" len="med"/>
                    </a:lnB>
                  </a:tcPr>
                </a:tc>
                <a:tc>
                  <a:txBody>
                    <a:bodyPr anchor="t" rtlCol="false"/>
                    <a:lstStyle/>
                    <a:p>
                      <a:pPr algn="ctr">
                        <a:lnSpc>
                          <a:spcPts val="5235"/>
                        </a:lnSpc>
                        <a:defRPr/>
                      </a:pPr>
                      <a:r>
                        <a:rPr lang="en-US" b="true" sz="2799" spc="139">
                          <a:solidFill>
                            <a:srgbClr val="000000"/>
                          </a:solidFill>
                          <a:latin typeface="Times New Roman Bold"/>
                          <a:ea typeface="Times New Roman Bold"/>
                          <a:cs typeface="Times New Roman Bold"/>
                          <a:sym typeface="Times New Roman Bold"/>
                        </a:rPr>
                        <a:t>Admin: Add a new show</a:t>
                      </a:r>
                      <a:endParaRPr lang="en-US" sz="1100"/>
                    </a:p>
                  </a:txBody>
                  <a:tcPr marL="0" marR="0" marT="0" marB="0" anchor="ctr">
                    <a:lnL cmpd="sng" algn="ctr" cap="flat" w="47625">
                      <a:solidFill>
                        <a:srgbClr val="000000"/>
                      </a:solidFill>
                      <a:prstDash val="solid"/>
                      <a:round/>
                      <a:headEnd type="none" w="med" len="med"/>
                      <a:tailEnd type="none" w="med" len="med"/>
                    </a:lnL>
                    <a:lnR cmpd="sng" algn="ctr" cap="flat" w="47625">
                      <a:solidFill>
                        <a:srgbClr val="000000"/>
                      </a:solidFill>
                      <a:prstDash val="solid"/>
                      <a:round/>
                      <a:headEnd type="none" w="med" len="med"/>
                      <a:tailEnd type="none" w="med" len="med"/>
                    </a:lnR>
                    <a:lnT cmpd="sng" algn="ctr" cap="flat" w="47625">
                      <a:solidFill>
                        <a:srgbClr val="000000"/>
                      </a:solidFill>
                      <a:prstDash val="solid"/>
                      <a:round/>
                      <a:headEnd type="none" w="med" len="med"/>
                      <a:tailEnd type="none" w="med" len="med"/>
                    </a:lnT>
                    <a:lnB cmpd="sng" algn="ctr" cap="flat" w="47625">
                      <a:solidFill>
                        <a:srgbClr val="000000"/>
                      </a:solidFill>
                      <a:prstDash val="solid"/>
                      <a:round/>
                      <a:headEnd type="none" w="med" len="med"/>
                      <a:tailEnd type="none" w="med" len="med"/>
                    </a:lnB>
                  </a:tcPr>
                </a:tc>
              </a:tr>
              <a:tr h="963291">
                <a:tc>
                  <a:txBody>
                    <a:bodyPr anchor="t" rtlCol="false"/>
                    <a:lstStyle/>
                    <a:p>
                      <a:pPr algn="ctr">
                        <a:lnSpc>
                          <a:spcPts val="5235"/>
                        </a:lnSpc>
                        <a:defRPr/>
                      </a:pPr>
                      <a:r>
                        <a:rPr lang="en-US" b="true" sz="2799" spc="139">
                          <a:solidFill>
                            <a:srgbClr val="000000"/>
                          </a:solidFill>
                          <a:latin typeface="Times New Roman Bold"/>
                          <a:ea typeface="Times New Roman Bold"/>
                          <a:cs typeface="Times New Roman Bold"/>
                          <a:sym typeface="Times New Roman Bold"/>
                        </a:rPr>
                        <a:t>/api/stripe/webhook</a:t>
                      </a:r>
                      <a:endParaRPr lang="en-US" sz="1100"/>
                    </a:p>
                  </a:txBody>
                  <a:tcPr marL="0" marR="0" marT="0" marB="0" anchor="ctr">
                    <a:lnL cmpd="sng" algn="ctr" cap="flat" w="47625">
                      <a:solidFill>
                        <a:srgbClr val="000000"/>
                      </a:solidFill>
                      <a:prstDash val="solid"/>
                      <a:round/>
                      <a:headEnd type="none" w="med" len="med"/>
                      <a:tailEnd type="none" w="med" len="med"/>
                    </a:lnL>
                    <a:lnR cmpd="sng" algn="ctr" cap="flat" w="47625">
                      <a:solidFill>
                        <a:srgbClr val="000000"/>
                      </a:solidFill>
                      <a:prstDash val="solid"/>
                      <a:round/>
                      <a:headEnd type="none" w="med" len="med"/>
                      <a:tailEnd type="none" w="med" len="med"/>
                    </a:lnR>
                    <a:lnT cmpd="sng" algn="ctr" cap="flat" w="47625">
                      <a:solidFill>
                        <a:srgbClr val="000000"/>
                      </a:solidFill>
                      <a:prstDash val="solid"/>
                      <a:round/>
                      <a:headEnd type="none" w="med" len="med"/>
                      <a:tailEnd type="none" w="med" len="med"/>
                    </a:lnT>
                    <a:lnB cmpd="sng" algn="ctr" cap="flat" w="47625">
                      <a:solidFill>
                        <a:srgbClr val="000000"/>
                      </a:solidFill>
                      <a:prstDash val="solid"/>
                      <a:round/>
                      <a:headEnd type="none" w="med" len="med"/>
                      <a:tailEnd type="none" w="med" len="med"/>
                    </a:lnB>
                  </a:tcPr>
                </a:tc>
                <a:tc>
                  <a:txBody>
                    <a:bodyPr anchor="t" rtlCol="false"/>
                    <a:lstStyle/>
                    <a:p>
                      <a:pPr algn="ctr">
                        <a:lnSpc>
                          <a:spcPts val="5235"/>
                        </a:lnSpc>
                        <a:defRPr/>
                      </a:pPr>
                      <a:r>
                        <a:rPr lang="en-US" b="true" sz="2799" spc="139">
                          <a:solidFill>
                            <a:srgbClr val="000000"/>
                          </a:solidFill>
                          <a:latin typeface="Times New Roman Bold"/>
                          <a:ea typeface="Times New Roman Bold"/>
                          <a:cs typeface="Times New Roman Bold"/>
                          <a:sym typeface="Times New Roman Bold"/>
                        </a:rPr>
                        <a:t>POST</a:t>
                      </a:r>
                      <a:endParaRPr lang="en-US" sz="1100"/>
                    </a:p>
                  </a:txBody>
                  <a:tcPr marL="0" marR="0" marT="0" marB="0" anchor="ctr">
                    <a:lnL cmpd="sng" algn="ctr" cap="flat" w="47625">
                      <a:solidFill>
                        <a:srgbClr val="000000"/>
                      </a:solidFill>
                      <a:prstDash val="solid"/>
                      <a:round/>
                      <a:headEnd type="none" w="med" len="med"/>
                      <a:tailEnd type="none" w="med" len="med"/>
                    </a:lnL>
                    <a:lnR cmpd="sng" algn="ctr" cap="flat" w="47625">
                      <a:solidFill>
                        <a:srgbClr val="000000"/>
                      </a:solidFill>
                      <a:prstDash val="solid"/>
                      <a:round/>
                      <a:headEnd type="none" w="med" len="med"/>
                      <a:tailEnd type="none" w="med" len="med"/>
                    </a:lnR>
                    <a:lnT cmpd="sng" algn="ctr" cap="flat" w="47625">
                      <a:solidFill>
                        <a:srgbClr val="000000"/>
                      </a:solidFill>
                      <a:prstDash val="solid"/>
                      <a:round/>
                      <a:headEnd type="none" w="med" len="med"/>
                      <a:tailEnd type="none" w="med" len="med"/>
                    </a:lnT>
                    <a:lnB cmpd="sng" algn="ctr" cap="flat" w="47625">
                      <a:solidFill>
                        <a:srgbClr val="000000"/>
                      </a:solidFill>
                      <a:prstDash val="solid"/>
                      <a:round/>
                      <a:headEnd type="none" w="med" len="med"/>
                      <a:tailEnd type="none" w="med" len="med"/>
                    </a:lnB>
                  </a:tcPr>
                </a:tc>
                <a:tc>
                  <a:txBody>
                    <a:bodyPr anchor="t" rtlCol="false"/>
                    <a:lstStyle/>
                    <a:p>
                      <a:pPr algn="ctr">
                        <a:lnSpc>
                          <a:spcPts val="5235"/>
                        </a:lnSpc>
                        <a:defRPr/>
                      </a:pPr>
                      <a:r>
                        <a:rPr lang="en-US" b="true" sz="2799" spc="139">
                          <a:solidFill>
                            <a:srgbClr val="000000"/>
                          </a:solidFill>
                          <a:latin typeface="Times New Roman Bold"/>
                          <a:ea typeface="Times New Roman Bold"/>
                          <a:cs typeface="Times New Roman Bold"/>
                          <a:sym typeface="Times New Roman Bold"/>
                        </a:rPr>
                        <a:t>Stripe webhook for payments</a:t>
                      </a:r>
                      <a:endParaRPr lang="en-US" sz="1100"/>
                    </a:p>
                  </a:txBody>
                  <a:tcPr marL="0" marR="0" marT="0" marB="0" anchor="ctr">
                    <a:lnL cmpd="sng" algn="ctr" cap="flat" w="47625">
                      <a:solidFill>
                        <a:srgbClr val="000000"/>
                      </a:solidFill>
                      <a:prstDash val="solid"/>
                      <a:round/>
                      <a:headEnd type="none" w="med" len="med"/>
                      <a:tailEnd type="none" w="med" len="med"/>
                    </a:lnL>
                    <a:lnR cmpd="sng" algn="ctr" cap="flat" w="47625">
                      <a:solidFill>
                        <a:srgbClr val="000000"/>
                      </a:solidFill>
                      <a:prstDash val="solid"/>
                      <a:round/>
                      <a:headEnd type="none" w="med" len="med"/>
                      <a:tailEnd type="none" w="med" len="med"/>
                    </a:lnR>
                    <a:lnT cmpd="sng" algn="ctr" cap="flat" w="47625">
                      <a:solidFill>
                        <a:srgbClr val="000000"/>
                      </a:solidFill>
                      <a:prstDash val="solid"/>
                      <a:round/>
                      <a:headEnd type="none" w="med" len="med"/>
                      <a:tailEnd type="none" w="med" len="med"/>
                    </a:lnT>
                    <a:lnB cmpd="sng" algn="ctr" cap="flat" w="47625">
                      <a:solidFill>
                        <a:srgbClr val="000000"/>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p="http://schemas.openxmlformats.org/presentationml/2006/main" xmlns:a="http://schemas.openxmlformats.org/drawingml/2006/main">
  <p:cSld>
    <p:bg>
      <p:bgPr>
        <a:solidFill>
          <a:srgbClr val="FFFBE1"/>
        </a:solidFill>
      </p:bgPr>
    </p:bg>
    <p:spTree>
      <p:nvGrpSpPr>
        <p:cNvPr id="1" name=""/>
        <p:cNvGrpSpPr/>
        <p:nvPr/>
      </p:nvGrpSpPr>
      <p:grpSpPr>
        <a:xfrm>
          <a:off x="0" y="0"/>
          <a:ext cx="0" cy="0"/>
          <a:chOff x="0" y="0"/>
          <a:chExt cx="0" cy="0"/>
        </a:xfrm>
      </p:grpSpPr>
      <p:sp>
        <p:nvSpPr>
          <p:cNvPr name="TextBox 2" id="2"/>
          <p:cNvSpPr txBox="true"/>
          <p:nvPr/>
        </p:nvSpPr>
        <p:spPr>
          <a:xfrm rot="0">
            <a:off x="607595" y="1395496"/>
            <a:ext cx="3783459" cy="679450"/>
          </a:xfrm>
          <a:prstGeom prst="rect">
            <a:avLst/>
          </a:prstGeom>
        </p:spPr>
        <p:txBody>
          <a:bodyPr anchor="t" rtlCol="false" tIns="0" lIns="0" bIns="0" rIns="0">
            <a:spAutoFit/>
          </a:bodyPr>
          <a:lstStyle/>
          <a:p>
            <a:pPr algn="ctr">
              <a:lnSpc>
                <a:spcPts val="5599"/>
              </a:lnSpc>
              <a:spcBef>
                <a:spcPct val="0"/>
              </a:spcBef>
            </a:pPr>
            <a:r>
              <a:rPr lang="en-US" sz="3999">
                <a:solidFill>
                  <a:srgbClr val="992800"/>
                </a:solidFill>
                <a:latin typeface="TAN Ashford"/>
                <a:ea typeface="TAN Ashford"/>
                <a:cs typeface="TAN Ashford"/>
                <a:sym typeface="TAN Ashford"/>
              </a:rPr>
              <a:t>Features </a:t>
            </a:r>
          </a:p>
        </p:txBody>
      </p:sp>
      <p:sp>
        <p:nvSpPr>
          <p:cNvPr name="TextBox 3" id="3"/>
          <p:cNvSpPr txBox="true"/>
          <p:nvPr/>
        </p:nvSpPr>
        <p:spPr>
          <a:xfrm rot="0">
            <a:off x="607595" y="2428875"/>
            <a:ext cx="14813225" cy="5624195"/>
          </a:xfrm>
          <a:prstGeom prst="rect">
            <a:avLst/>
          </a:prstGeom>
        </p:spPr>
        <p:txBody>
          <a:bodyPr anchor="t" rtlCol="false" tIns="0" lIns="0" bIns="0" rIns="0">
            <a:spAutoFit/>
          </a:bodyPr>
          <a:lstStyle/>
          <a:p>
            <a:pPr algn="l" marL="690879" indent="-345439" lvl="1">
              <a:lnSpc>
                <a:spcPts val="4479"/>
              </a:lnSpc>
              <a:buFont typeface="Arial"/>
              <a:buChar char="•"/>
            </a:pPr>
            <a:r>
              <a:rPr lang="en-US" b="true" sz="3199">
                <a:solidFill>
                  <a:srgbClr val="000000"/>
                </a:solidFill>
                <a:latin typeface="Times New Roman Bold"/>
                <a:ea typeface="Times New Roman Bold"/>
                <a:cs typeface="Times New Roman Bold"/>
                <a:sym typeface="Times New Roman Bold"/>
              </a:rPr>
              <a:t>Smart Booking System – </a:t>
            </a:r>
            <a:r>
              <a:rPr lang="en-US" sz="3199">
                <a:solidFill>
                  <a:srgbClr val="000000"/>
                </a:solidFill>
                <a:latin typeface="Times New Roman"/>
                <a:ea typeface="Times New Roman"/>
                <a:cs typeface="Times New Roman"/>
                <a:sym typeface="Times New Roman"/>
              </a:rPr>
              <a:t>Real-time seat availability and interactive seat layouts</a:t>
            </a:r>
          </a:p>
          <a:p>
            <a:pPr algn="l" marL="690879" indent="-345439" lvl="1">
              <a:lnSpc>
                <a:spcPts val="4479"/>
              </a:lnSpc>
              <a:buFont typeface="Arial"/>
              <a:buChar char="•"/>
            </a:pPr>
            <a:r>
              <a:rPr lang="en-US" b="true" sz="3199">
                <a:solidFill>
                  <a:srgbClr val="000000"/>
                </a:solidFill>
                <a:latin typeface="Times New Roman Bold"/>
                <a:ea typeface="Times New Roman Bold"/>
                <a:cs typeface="Times New Roman Bold"/>
                <a:sym typeface="Times New Roman Bold"/>
              </a:rPr>
              <a:t>Secure Payments – </a:t>
            </a:r>
            <a:r>
              <a:rPr lang="en-US" sz="3199">
                <a:solidFill>
                  <a:srgbClr val="000000"/>
                </a:solidFill>
                <a:latin typeface="Times New Roman"/>
                <a:ea typeface="Times New Roman"/>
                <a:cs typeface="Times New Roman"/>
                <a:sym typeface="Times New Roman"/>
              </a:rPr>
              <a:t>Integrated with </a:t>
            </a:r>
            <a:r>
              <a:rPr lang="en-US" b="true" sz="3199">
                <a:solidFill>
                  <a:srgbClr val="000000"/>
                </a:solidFill>
                <a:latin typeface="Times New Roman Bold"/>
                <a:ea typeface="Times New Roman Bold"/>
                <a:cs typeface="Times New Roman Bold"/>
                <a:sym typeface="Times New Roman Bold"/>
              </a:rPr>
              <a:t>Stripe</a:t>
            </a:r>
            <a:r>
              <a:rPr lang="en-US" sz="3199">
                <a:solidFill>
                  <a:srgbClr val="000000"/>
                </a:solidFill>
                <a:latin typeface="Times New Roman"/>
                <a:ea typeface="Times New Roman"/>
                <a:cs typeface="Times New Roman"/>
                <a:sym typeface="Times New Roman"/>
              </a:rPr>
              <a:t> for ticket purchases</a:t>
            </a:r>
          </a:p>
          <a:p>
            <a:pPr algn="l" marL="690879" indent="-345439" lvl="1">
              <a:lnSpc>
                <a:spcPts val="4479"/>
              </a:lnSpc>
              <a:buFont typeface="Arial"/>
              <a:buChar char="•"/>
            </a:pPr>
            <a:r>
              <a:rPr lang="en-US" b="true" sz="3199">
                <a:solidFill>
                  <a:srgbClr val="000000"/>
                </a:solidFill>
                <a:latin typeface="Times New Roman Bold"/>
                <a:ea typeface="Times New Roman Bold"/>
                <a:cs typeface="Times New Roman Bold"/>
                <a:sym typeface="Times New Roman Bold"/>
              </a:rPr>
              <a:t>User Management – </a:t>
            </a:r>
            <a:r>
              <a:rPr lang="en-US" sz="3199">
                <a:solidFill>
                  <a:srgbClr val="000000"/>
                </a:solidFill>
                <a:latin typeface="Times New Roman"/>
                <a:ea typeface="Times New Roman"/>
                <a:cs typeface="Times New Roman"/>
                <a:sym typeface="Times New Roman"/>
              </a:rPr>
              <a:t>Login, favorites, and profile powered by</a:t>
            </a:r>
            <a:r>
              <a:rPr lang="en-US" b="true" sz="3199">
                <a:solidFill>
                  <a:srgbClr val="000000"/>
                </a:solidFill>
                <a:latin typeface="Times New Roman Bold"/>
                <a:ea typeface="Times New Roman Bold"/>
                <a:cs typeface="Times New Roman Bold"/>
                <a:sym typeface="Times New Roman Bold"/>
              </a:rPr>
              <a:t> Clerk</a:t>
            </a:r>
          </a:p>
          <a:p>
            <a:pPr algn="l" marL="690879" indent="-345439" lvl="1">
              <a:lnSpc>
                <a:spcPts val="4479"/>
              </a:lnSpc>
              <a:buFont typeface="Arial"/>
              <a:buChar char="•"/>
            </a:pPr>
            <a:r>
              <a:rPr lang="en-US" b="true" sz="3199">
                <a:solidFill>
                  <a:srgbClr val="000000"/>
                </a:solidFill>
                <a:latin typeface="Times New Roman Bold"/>
                <a:ea typeface="Times New Roman Bold"/>
                <a:cs typeface="Times New Roman Bold"/>
                <a:sym typeface="Times New Roman Bold"/>
              </a:rPr>
              <a:t>Admin Dashboard – </a:t>
            </a:r>
            <a:r>
              <a:rPr lang="en-US" sz="3199">
                <a:solidFill>
                  <a:srgbClr val="000000"/>
                </a:solidFill>
                <a:latin typeface="Times New Roman"/>
                <a:ea typeface="Times New Roman"/>
                <a:cs typeface="Times New Roman"/>
                <a:sym typeface="Times New Roman"/>
              </a:rPr>
              <a:t>Manage movies, shows, and analytics</a:t>
            </a:r>
          </a:p>
          <a:p>
            <a:pPr algn="l" marL="690879" indent="-345439" lvl="1">
              <a:lnSpc>
                <a:spcPts val="4479"/>
              </a:lnSpc>
              <a:buFont typeface="Arial"/>
              <a:buChar char="•"/>
            </a:pPr>
            <a:r>
              <a:rPr lang="en-US" b="true" sz="3199">
                <a:solidFill>
                  <a:srgbClr val="000000"/>
                </a:solidFill>
                <a:latin typeface="Times New Roman Bold"/>
                <a:ea typeface="Times New Roman Bold"/>
                <a:cs typeface="Times New Roman Bold"/>
                <a:sym typeface="Times New Roman Bold"/>
              </a:rPr>
              <a:t>Movie Catalog – </a:t>
            </a:r>
            <a:r>
              <a:rPr lang="en-US" sz="3199">
                <a:solidFill>
                  <a:srgbClr val="000000"/>
                </a:solidFill>
                <a:latin typeface="Times New Roman"/>
                <a:ea typeface="Times New Roman"/>
                <a:cs typeface="Times New Roman"/>
                <a:sym typeface="Times New Roman"/>
              </a:rPr>
              <a:t>Browse movies with ratings, trailers, and details</a:t>
            </a:r>
          </a:p>
          <a:p>
            <a:pPr algn="l" marL="690879" indent="-345439" lvl="1">
              <a:lnSpc>
                <a:spcPts val="4479"/>
              </a:lnSpc>
              <a:buFont typeface="Arial"/>
              <a:buChar char="•"/>
            </a:pPr>
            <a:r>
              <a:rPr lang="en-US" b="true" sz="3199">
                <a:solidFill>
                  <a:srgbClr val="000000"/>
                </a:solidFill>
                <a:latin typeface="Times New Roman Bold"/>
                <a:ea typeface="Times New Roman Bold"/>
                <a:cs typeface="Times New Roman Bold"/>
                <a:sym typeface="Times New Roman Bold"/>
              </a:rPr>
              <a:t>Email Notifications –</a:t>
            </a:r>
            <a:r>
              <a:rPr lang="en-US" sz="3199">
                <a:solidFill>
                  <a:srgbClr val="000000"/>
                </a:solidFill>
                <a:latin typeface="Times New Roman"/>
                <a:ea typeface="Times New Roman"/>
                <a:cs typeface="Times New Roman"/>
                <a:sym typeface="Times New Roman"/>
              </a:rPr>
              <a:t> Instant booking confirmations via</a:t>
            </a:r>
            <a:r>
              <a:rPr lang="en-US" b="true" sz="3199">
                <a:solidFill>
                  <a:srgbClr val="000000"/>
                </a:solidFill>
                <a:latin typeface="Times New Roman Bold"/>
                <a:ea typeface="Times New Roman Bold"/>
                <a:cs typeface="Times New Roman Bold"/>
                <a:sym typeface="Times New Roman Bold"/>
              </a:rPr>
              <a:t> Nodemailer</a:t>
            </a:r>
          </a:p>
          <a:p>
            <a:pPr algn="l" marL="690879" indent="-345439" lvl="1">
              <a:lnSpc>
                <a:spcPts val="4479"/>
              </a:lnSpc>
              <a:buFont typeface="Arial"/>
              <a:buChar char="•"/>
            </a:pPr>
            <a:r>
              <a:rPr lang="en-US" b="true" sz="3199">
                <a:solidFill>
                  <a:srgbClr val="000000"/>
                </a:solidFill>
                <a:latin typeface="Times New Roman Bold"/>
                <a:ea typeface="Times New Roman Bold"/>
                <a:cs typeface="Times New Roman Bold"/>
                <a:sym typeface="Times New Roman Bold"/>
              </a:rPr>
              <a:t>Cloud Storage –</a:t>
            </a:r>
            <a:r>
              <a:rPr lang="en-US" sz="3199">
                <a:solidFill>
                  <a:srgbClr val="000000"/>
                </a:solidFill>
                <a:latin typeface="Times New Roman"/>
                <a:ea typeface="Times New Roman"/>
                <a:cs typeface="Times New Roman"/>
                <a:sym typeface="Times New Roman"/>
              </a:rPr>
              <a:t> Efficient media management using</a:t>
            </a:r>
            <a:r>
              <a:rPr lang="en-US" b="true" sz="3199">
                <a:solidFill>
                  <a:srgbClr val="000000"/>
                </a:solidFill>
                <a:latin typeface="Times New Roman Bold"/>
                <a:ea typeface="Times New Roman Bold"/>
                <a:cs typeface="Times New Roman Bold"/>
                <a:sym typeface="Times New Roman Bold"/>
              </a:rPr>
              <a:t> Cloudinary</a:t>
            </a:r>
          </a:p>
          <a:p>
            <a:pPr algn="l" marL="690879" indent="-345439" lvl="1">
              <a:lnSpc>
                <a:spcPts val="4479"/>
              </a:lnSpc>
              <a:buFont typeface="Arial"/>
              <a:buChar char="•"/>
            </a:pPr>
            <a:r>
              <a:rPr lang="en-US" b="true" sz="3199">
                <a:solidFill>
                  <a:srgbClr val="000000"/>
                </a:solidFill>
                <a:latin typeface="Times New Roman Bold"/>
                <a:ea typeface="Times New Roman Bold"/>
                <a:cs typeface="Times New Roman Bold"/>
                <a:sym typeface="Times New Roman Bold"/>
              </a:rPr>
              <a:t>Responsive UI – </a:t>
            </a:r>
            <a:r>
              <a:rPr lang="en-US" sz="3199">
                <a:solidFill>
                  <a:srgbClr val="000000"/>
                </a:solidFill>
                <a:latin typeface="Times New Roman"/>
                <a:ea typeface="Times New Roman"/>
                <a:cs typeface="Times New Roman"/>
                <a:sym typeface="Times New Roman"/>
              </a:rPr>
              <a:t>Seamless experience on all devices</a:t>
            </a:r>
          </a:p>
          <a:p>
            <a:pPr algn="l" marL="690879" indent="-345439" lvl="1">
              <a:lnSpc>
                <a:spcPts val="4479"/>
              </a:lnSpc>
              <a:buFont typeface="Arial"/>
              <a:buChar char="•"/>
            </a:pPr>
            <a:r>
              <a:rPr lang="en-US" b="true" sz="3199">
                <a:solidFill>
                  <a:srgbClr val="000000"/>
                </a:solidFill>
                <a:latin typeface="Times New Roman Bold"/>
                <a:ea typeface="Times New Roman Bold"/>
                <a:cs typeface="Times New Roman Bold"/>
                <a:sym typeface="Times New Roman Bold"/>
              </a:rPr>
              <a:t>Event Workflows – </a:t>
            </a:r>
            <a:r>
              <a:rPr lang="en-US" sz="3199">
                <a:solidFill>
                  <a:srgbClr val="000000"/>
                </a:solidFill>
                <a:latin typeface="Times New Roman"/>
                <a:ea typeface="Times New Roman"/>
                <a:cs typeface="Times New Roman"/>
                <a:sym typeface="Times New Roman"/>
              </a:rPr>
              <a:t>Background operations powered by</a:t>
            </a:r>
            <a:r>
              <a:rPr lang="en-US" b="true" sz="3199">
                <a:solidFill>
                  <a:srgbClr val="000000"/>
                </a:solidFill>
                <a:latin typeface="Times New Roman Bold"/>
                <a:ea typeface="Times New Roman Bold"/>
                <a:cs typeface="Times New Roman Bold"/>
                <a:sym typeface="Times New Roman Bold"/>
              </a:rPr>
              <a:t> Inngest</a:t>
            </a:r>
          </a:p>
          <a:p>
            <a:pPr algn="l">
              <a:lnSpc>
                <a:spcPts val="4479"/>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BE1"/>
        </a:solidFill>
      </p:bgPr>
    </p:bg>
    <p:spTree>
      <p:nvGrpSpPr>
        <p:cNvPr id="1" name=""/>
        <p:cNvGrpSpPr/>
        <p:nvPr/>
      </p:nvGrpSpPr>
      <p:grpSpPr>
        <a:xfrm>
          <a:off x="0" y="0"/>
          <a:ext cx="0" cy="0"/>
          <a:chOff x="0" y="0"/>
          <a:chExt cx="0" cy="0"/>
        </a:xfrm>
      </p:grpSpPr>
      <p:sp>
        <p:nvSpPr>
          <p:cNvPr name="TextBox 2" id="2"/>
          <p:cNvSpPr txBox="true"/>
          <p:nvPr/>
        </p:nvSpPr>
        <p:spPr>
          <a:xfrm rot="0">
            <a:off x="477739" y="1675598"/>
            <a:ext cx="4423860" cy="481329"/>
          </a:xfrm>
          <a:prstGeom prst="rect">
            <a:avLst/>
          </a:prstGeom>
        </p:spPr>
        <p:txBody>
          <a:bodyPr anchor="t" rtlCol="false" tIns="0" lIns="0" bIns="0" rIns="0">
            <a:spAutoFit/>
          </a:bodyPr>
          <a:lstStyle/>
          <a:p>
            <a:pPr algn="ctr">
              <a:lnSpc>
                <a:spcPts val="3920"/>
              </a:lnSpc>
              <a:spcBef>
                <a:spcPct val="0"/>
              </a:spcBef>
            </a:pPr>
            <a:r>
              <a:rPr lang="en-US" sz="2800">
                <a:solidFill>
                  <a:srgbClr val="11676A"/>
                </a:solidFill>
                <a:latin typeface="TAN Ashford"/>
                <a:ea typeface="TAN Ashford"/>
                <a:cs typeface="TAN Ashford"/>
                <a:sym typeface="TAN Ashford"/>
              </a:rPr>
              <a:t>Signup &amp; Login </a:t>
            </a:r>
          </a:p>
        </p:txBody>
      </p:sp>
      <p:sp>
        <p:nvSpPr>
          <p:cNvPr name="Freeform 3" id="3"/>
          <p:cNvSpPr/>
          <p:nvPr/>
        </p:nvSpPr>
        <p:spPr>
          <a:xfrm flipH="false" flipV="false" rot="0">
            <a:off x="2493164" y="2556977"/>
            <a:ext cx="4816869" cy="5744909"/>
          </a:xfrm>
          <a:custGeom>
            <a:avLst/>
            <a:gdLst/>
            <a:ahLst/>
            <a:cxnLst/>
            <a:rect r="r" b="b" t="t" l="l"/>
            <a:pathLst>
              <a:path h="5744909" w="4816869">
                <a:moveTo>
                  <a:pt x="0" y="0"/>
                </a:moveTo>
                <a:lnTo>
                  <a:pt x="4816870" y="0"/>
                </a:lnTo>
                <a:lnTo>
                  <a:pt x="4816870" y="5744910"/>
                </a:lnTo>
                <a:lnTo>
                  <a:pt x="0" y="5744910"/>
                </a:lnTo>
                <a:lnTo>
                  <a:pt x="0" y="0"/>
                </a:lnTo>
                <a:close/>
              </a:path>
            </a:pathLst>
          </a:custGeom>
          <a:blipFill>
            <a:blip r:embed="rId2"/>
            <a:stretch>
              <a:fillRect l="-5134" t="-5111" r="-5134" b="-4573"/>
            </a:stretch>
          </a:blipFill>
        </p:spPr>
      </p:sp>
      <p:sp>
        <p:nvSpPr>
          <p:cNvPr name="Freeform 4" id="4"/>
          <p:cNvSpPr/>
          <p:nvPr/>
        </p:nvSpPr>
        <p:spPr>
          <a:xfrm flipH="false" flipV="false" rot="0">
            <a:off x="9585171" y="2156927"/>
            <a:ext cx="2992140" cy="6144959"/>
          </a:xfrm>
          <a:custGeom>
            <a:avLst/>
            <a:gdLst/>
            <a:ahLst/>
            <a:cxnLst/>
            <a:rect r="r" b="b" t="t" l="l"/>
            <a:pathLst>
              <a:path h="6144959" w="2992140">
                <a:moveTo>
                  <a:pt x="0" y="0"/>
                </a:moveTo>
                <a:lnTo>
                  <a:pt x="2992140" y="0"/>
                </a:lnTo>
                <a:lnTo>
                  <a:pt x="2992140" y="6144960"/>
                </a:lnTo>
                <a:lnTo>
                  <a:pt x="0" y="6144960"/>
                </a:lnTo>
                <a:lnTo>
                  <a:pt x="0" y="0"/>
                </a:lnTo>
                <a:close/>
              </a:path>
            </a:pathLst>
          </a:custGeom>
          <a:blipFill>
            <a:blip r:embed="rId3"/>
            <a:stretch>
              <a:fillRect l="-3481" t="0" r="-3481" b="0"/>
            </a:stretch>
          </a:blipFill>
        </p:spPr>
      </p:sp>
      <p:sp>
        <p:nvSpPr>
          <p:cNvPr name="Freeform 5" id="5"/>
          <p:cNvSpPr/>
          <p:nvPr/>
        </p:nvSpPr>
        <p:spPr>
          <a:xfrm flipH="false" flipV="false" rot="0">
            <a:off x="789998" y="8615900"/>
            <a:ext cx="857505" cy="828565"/>
          </a:xfrm>
          <a:custGeom>
            <a:avLst/>
            <a:gdLst/>
            <a:ahLst/>
            <a:cxnLst/>
            <a:rect r="r" b="b" t="t" l="l"/>
            <a:pathLst>
              <a:path h="828565" w="857505">
                <a:moveTo>
                  <a:pt x="0" y="0"/>
                </a:moveTo>
                <a:lnTo>
                  <a:pt x="857506" y="0"/>
                </a:lnTo>
                <a:lnTo>
                  <a:pt x="857506" y="828565"/>
                </a:lnTo>
                <a:lnTo>
                  <a:pt x="0" y="828565"/>
                </a:lnTo>
                <a:lnTo>
                  <a:pt x="0" y="0"/>
                </a:lnTo>
                <a:close/>
              </a:path>
            </a:pathLst>
          </a:custGeom>
          <a:blipFill>
            <a:blip r:embed="rId4">
              <a:extLst>
                <a:ext uri="{96DAC541-7B7A-43D3-8B79-37D633B846F1}">
                  <asvg:svgBlip xmlns:asvg="http://schemas.microsoft.com/office/drawing/2016/SVG/main" r:embed="rId5"/>
                </a:ext>
              </a:extLst>
            </a:blip>
            <a:stretch>
              <a:fillRect l="0" t="-267" r="0" b="-267"/>
            </a:stretch>
          </a:blipFill>
          <a:ln cap="sq">
            <a:noFill/>
            <a:prstDash val="solid"/>
            <a:miter/>
          </a:ln>
        </p:spPr>
      </p:sp>
      <p:sp>
        <p:nvSpPr>
          <p:cNvPr name="TextBox 6" id="6"/>
          <p:cNvSpPr txBox="true"/>
          <p:nvPr/>
        </p:nvSpPr>
        <p:spPr>
          <a:xfrm rot="0">
            <a:off x="1910902" y="8654312"/>
            <a:ext cx="15739424" cy="1298655"/>
          </a:xfrm>
          <a:prstGeom prst="rect">
            <a:avLst/>
          </a:prstGeom>
        </p:spPr>
        <p:txBody>
          <a:bodyPr anchor="t" rtlCol="false" tIns="0" lIns="0" bIns="0" rIns="0">
            <a:spAutoFit/>
          </a:bodyPr>
          <a:lstStyle/>
          <a:p>
            <a:pPr algn="l">
              <a:lnSpc>
                <a:spcPts val="3496"/>
              </a:lnSpc>
            </a:pPr>
            <a:r>
              <a:rPr lang="en-US" sz="2497" b="true">
                <a:solidFill>
                  <a:srgbClr val="000000"/>
                </a:solidFill>
                <a:latin typeface="Roboto Bold"/>
                <a:ea typeface="Roboto Bold"/>
                <a:cs typeface="Roboto Bold"/>
                <a:sym typeface="Roboto Bold"/>
              </a:rPr>
              <a:t>A Clerk-based authentication system was implemented to ensure secure login for both users and administrators, with role-based access control (RBAC). It supports manual credential-based signup as well as Google OAuth for seamless registration, while maintaining strong security and efficient session management</a:t>
            </a:r>
          </a:p>
        </p:txBody>
      </p:sp>
      <p:sp>
        <p:nvSpPr>
          <p:cNvPr name="TextBox 7" id="7"/>
          <p:cNvSpPr txBox="true"/>
          <p:nvPr/>
        </p:nvSpPr>
        <p:spPr>
          <a:xfrm rot="0">
            <a:off x="5612968" y="630618"/>
            <a:ext cx="7062064" cy="679450"/>
          </a:xfrm>
          <a:prstGeom prst="rect">
            <a:avLst/>
          </a:prstGeom>
        </p:spPr>
        <p:txBody>
          <a:bodyPr anchor="t" rtlCol="false" tIns="0" lIns="0" bIns="0" rIns="0">
            <a:spAutoFit/>
          </a:bodyPr>
          <a:lstStyle/>
          <a:p>
            <a:pPr algn="just">
              <a:lnSpc>
                <a:spcPts val="5599"/>
              </a:lnSpc>
              <a:spcBef>
                <a:spcPct val="0"/>
              </a:spcBef>
            </a:pPr>
            <a:r>
              <a:rPr lang="en-US" sz="3999">
                <a:solidFill>
                  <a:srgbClr val="992800"/>
                </a:solidFill>
                <a:latin typeface="TAN Ashford"/>
                <a:ea typeface="TAN Ashford"/>
                <a:cs typeface="TAN Ashford"/>
                <a:sym typeface="TAN Ashford"/>
              </a:rPr>
              <a:t>Feature Overview</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BE1"/>
        </a:solidFill>
      </p:bgPr>
    </p:bg>
    <p:spTree>
      <p:nvGrpSpPr>
        <p:cNvPr id="1" name=""/>
        <p:cNvGrpSpPr/>
        <p:nvPr/>
      </p:nvGrpSpPr>
      <p:grpSpPr>
        <a:xfrm>
          <a:off x="0" y="0"/>
          <a:ext cx="0" cy="0"/>
          <a:chOff x="0" y="0"/>
          <a:chExt cx="0" cy="0"/>
        </a:xfrm>
      </p:grpSpPr>
      <p:sp>
        <p:nvSpPr>
          <p:cNvPr name="TextBox 2" id="2"/>
          <p:cNvSpPr txBox="true"/>
          <p:nvPr/>
        </p:nvSpPr>
        <p:spPr>
          <a:xfrm rot="0">
            <a:off x="477739" y="1675598"/>
            <a:ext cx="5135229" cy="481329"/>
          </a:xfrm>
          <a:prstGeom prst="rect">
            <a:avLst/>
          </a:prstGeom>
        </p:spPr>
        <p:txBody>
          <a:bodyPr anchor="t" rtlCol="false" tIns="0" lIns="0" bIns="0" rIns="0">
            <a:spAutoFit/>
          </a:bodyPr>
          <a:lstStyle/>
          <a:p>
            <a:pPr algn="ctr">
              <a:lnSpc>
                <a:spcPts val="3920"/>
              </a:lnSpc>
              <a:spcBef>
                <a:spcPct val="0"/>
              </a:spcBef>
            </a:pPr>
            <a:r>
              <a:rPr lang="en-US" sz="2800">
                <a:solidFill>
                  <a:srgbClr val="11676A"/>
                </a:solidFill>
                <a:latin typeface="TAN Ashford"/>
                <a:ea typeface="TAN Ashford"/>
                <a:cs typeface="TAN Ashford"/>
                <a:sym typeface="TAN Ashford"/>
              </a:rPr>
              <a:t>Admin Dashboard  </a:t>
            </a:r>
          </a:p>
        </p:txBody>
      </p:sp>
      <p:sp>
        <p:nvSpPr>
          <p:cNvPr name="Freeform 3" id="3"/>
          <p:cNvSpPr/>
          <p:nvPr/>
        </p:nvSpPr>
        <p:spPr>
          <a:xfrm flipH="false" flipV="false" rot="0">
            <a:off x="789998" y="8615900"/>
            <a:ext cx="857505" cy="828565"/>
          </a:xfrm>
          <a:custGeom>
            <a:avLst/>
            <a:gdLst/>
            <a:ahLst/>
            <a:cxnLst/>
            <a:rect r="r" b="b" t="t" l="l"/>
            <a:pathLst>
              <a:path h="828565" w="857505">
                <a:moveTo>
                  <a:pt x="0" y="0"/>
                </a:moveTo>
                <a:lnTo>
                  <a:pt x="857506" y="0"/>
                </a:lnTo>
                <a:lnTo>
                  <a:pt x="857506" y="828565"/>
                </a:lnTo>
                <a:lnTo>
                  <a:pt x="0" y="828565"/>
                </a:lnTo>
                <a:lnTo>
                  <a:pt x="0" y="0"/>
                </a:lnTo>
                <a:close/>
              </a:path>
            </a:pathLst>
          </a:custGeom>
          <a:blipFill>
            <a:blip r:embed="rId2">
              <a:extLst>
                <a:ext uri="{96DAC541-7B7A-43D3-8B79-37D633B846F1}">
                  <asvg:svgBlip xmlns:asvg="http://schemas.microsoft.com/office/drawing/2016/SVG/main" r:embed="rId3"/>
                </a:ext>
              </a:extLst>
            </a:blip>
            <a:stretch>
              <a:fillRect l="0" t="-267" r="0" b="-267"/>
            </a:stretch>
          </a:blipFill>
          <a:ln cap="sq">
            <a:noFill/>
            <a:prstDash val="solid"/>
            <a:miter/>
          </a:ln>
        </p:spPr>
      </p:sp>
      <p:sp>
        <p:nvSpPr>
          <p:cNvPr name="TextBox 4" id="4"/>
          <p:cNvSpPr txBox="true"/>
          <p:nvPr/>
        </p:nvSpPr>
        <p:spPr>
          <a:xfrm rot="0">
            <a:off x="1910902" y="8835945"/>
            <a:ext cx="15739424" cy="422355"/>
          </a:xfrm>
          <a:prstGeom prst="rect">
            <a:avLst/>
          </a:prstGeom>
        </p:spPr>
        <p:txBody>
          <a:bodyPr anchor="t" rtlCol="false" tIns="0" lIns="0" bIns="0" rIns="0">
            <a:spAutoFit/>
          </a:bodyPr>
          <a:lstStyle/>
          <a:p>
            <a:pPr algn="l">
              <a:lnSpc>
                <a:spcPts val="3496"/>
              </a:lnSpc>
            </a:pPr>
            <a:r>
              <a:rPr lang="en-US" sz="2497" b="true">
                <a:solidFill>
                  <a:srgbClr val="000000"/>
                </a:solidFill>
                <a:latin typeface="Roboto Bold"/>
                <a:ea typeface="Roboto Bold"/>
                <a:cs typeface="Roboto Bold"/>
                <a:sym typeface="Roboto Bold"/>
              </a:rPr>
              <a:t>The admin dashboard gives a quick overview of total revenue, bookings, active shows, and users</a:t>
            </a:r>
          </a:p>
        </p:txBody>
      </p:sp>
      <p:sp>
        <p:nvSpPr>
          <p:cNvPr name="Freeform 5" id="5"/>
          <p:cNvSpPr/>
          <p:nvPr/>
        </p:nvSpPr>
        <p:spPr>
          <a:xfrm flipH="false" flipV="false" rot="0">
            <a:off x="3963107" y="2435831"/>
            <a:ext cx="9309022" cy="5987201"/>
          </a:xfrm>
          <a:custGeom>
            <a:avLst/>
            <a:gdLst/>
            <a:ahLst/>
            <a:cxnLst/>
            <a:rect r="r" b="b" t="t" l="l"/>
            <a:pathLst>
              <a:path h="5987201" w="9309022">
                <a:moveTo>
                  <a:pt x="0" y="0"/>
                </a:moveTo>
                <a:lnTo>
                  <a:pt x="9309022" y="0"/>
                </a:lnTo>
                <a:lnTo>
                  <a:pt x="9309022" y="5987201"/>
                </a:lnTo>
                <a:lnTo>
                  <a:pt x="0" y="5987201"/>
                </a:lnTo>
                <a:lnTo>
                  <a:pt x="0" y="0"/>
                </a:lnTo>
                <a:close/>
              </a:path>
            </a:pathLst>
          </a:custGeom>
          <a:blipFill>
            <a:blip r:embed="rId4"/>
            <a:stretch>
              <a:fillRect l="0" t="0" r="-2261" b="-21602"/>
            </a:stretch>
          </a:blipFill>
        </p:spPr>
      </p:sp>
      <p:sp>
        <p:nvSpPr>
          <p:cNvPr name="TextBox 6" id="6"/>
          <p:cNvSpPr txBox="true"/>
          <p:nvPr/>
        </p:nvSpPr>
        <p:spPr>
          <a:xfrm rot="0">
            <a:off x="5612968" y="630618"/>
            <a:ext cx="7062064" cy="679450"/>
          </a:xfrm>
          <a:prstGeom prst="rect">
            <a:avLst/>
          </a:prstGeom>
        </p:spPr>
        <p:txBody>
          <a:bodyPr anchor="t" rtlCol="false" tIns="0" lIns="0" bIns="0" rIns="0">
            <a:spAutoFit/>
          </a:bodyPr>
          <a:lstStyle/>
          <a:p>
            <a:pPr algn="just">
              <a:lnSpc>
                <a:spcPts val="5599"/>
              </a:lnSpc>
              <a:spcBef>
                <a:spcPct val="0"/>
              </a:spcBef>
            </a:pPr>
            <a:r>
              <a:rPr lang="en-US" sz="3999">
                <a:solidFill>
                  <a:srgbClr val="992800"/>
                </a:solidFill>
                <a:latin typeface="TAN Ashford"/>
                <a:ea typeface="TAN Ashford"/>
                <a:cs typeface="TAN Ashford"/>
                <a:sym typeface="TAN Ashford"/>
              </a:rPr>
              <a:t>Feature Overview</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BE1"/>
        </a:solidFill>
      </p:bgPr>
    </p:bg>
    <p:spTree>
      <p:nvGrpSpPr>
        <p:cNvPr id="1" name=""/>
        <p:cNvGrpSpPr/>
        <p:nvPr/>
      </p:nvGrpSpPr>
      <p:grpSpPr>
        <a:xfrm>
          <a:off x="0" y="0"/>
          <a:ext cx="0" cy="0"/>
          <a:chOff x="0" y="0"/>
          <a:chExt cx="0" cy="0"/>
        </a:xfrm>
      </p:grpSpPr>
      <p:sp>
        <p:nvSpPr>
          <p:cNvPr name="TextBox 2" id="2"/>
          <p:cNvSpPr txBox="true"/>
          <p:nvPr/>
        </p:nvSpPr>
        <p:spPr>
          <a:xfrm rot="0">
            <a:off x="477739" y="1675598"/>
            <a:ext cx="4553716" cy="481329"/>
          </a:xfrm>
          <a:prstGeom prst="rect">
            <a:avLst/>
          </a:prstGeom>
        </p:spPr>
        <p:txBody>
          <a:bodyPr anchor="t" rtlCol="false" tIns="0" lIns="0" bIns="0" rIns="0">
            <a:spAutoFit/>
          </a:bodyPr>
          <a:lstStyle/>
          <a:p>
            <a:pPr algn="ctr">
              <a:lnSpc>
                <a:spcPts val="3920"/>
              </a:lnSpc>
              <a:spcBef>
                <a:spcPct val="0"/>
              </a:spcBef>
            </a:pPr>
            <a:r>
              <a:rPr lang="en-US" sz="2800">
                <a:solidFill>
                  <a:srgbClr val="11676A"/>
                </a:solidFill>
                <a:latin typeface="TAN Ashford"/>
                <a:ea typeface="TAN Ashford"/>
                <a:cs typeface="TAN Ashford"/>
                <a:sym typeface="TAN Ashford"/>
              </a:rPr>
              <a:t>Add New Shows </a:t>
            </a:r>
          </a:p>
        </p:txBody>
      </p:sp>
      <p:sp>
        <p:nvSpPr>
          <p:cNvPr name="TextBox 3" id="3"/>
          <p:cNvSpPr txBox="true"/>
          <p:nvPr/>
        </p:nvSpPr>
        <p:spPr>
          <a:xfrm rot="0">
            <a:off x="1910902" y="8768918"/>
            <a:ext cx="15739424" cy="860505"/>
          </a:xfrm>
          <a:prstGeom prst="rect">
            <a:avLst/>
          </a:prstGeom>
        </p:spPr>
        <p:txBody>
          <a:bodyPr anchor="t" rtlCol="false" tIns="0" lIns="0" bIns="0" rIns="0">
            <a:spAutoFit/>
          </a:bodyPr>
          <a:lstStyle/>
          <a:p>
            <a:pPr algn="l">
              <a:lnSpc>
                <a:spcPts val="3496"/>
              </a:lnSpc>
            </a:pPr>
            <a:r>
              <a:rPr lang="en-US" sz="2497" b="true">
                <a:solidFill>
                  <a:srgbClr val="000000"/>
                </a:solidFill>
                <a:latin typeface="Roboto Bold"/>
                <a:ea typeface="Roboto Bold"/>
                <a:cs typeface="Roboto Bold"/>
                <a:sym typeface="Roboto Bold"/>
              </a:rPr>
              <a:t>A movie is selected from the TMDB movie database and can be assigned multiple showtimes, with flexible scheduling and ticket pricing for each slot</a:t>
            </a:r>
          </a:p>
        </p:txBody>
      </p:sp>
      <p:sp>
        <p:nvSpPr>
          <p:cNvPr name="Freeform 4" id="4"/>
          <p:cNvSpPr/>
          <p:nvPr/>
        </p:nvSpPr>
        <p:spPr>
          <a:xfrm flipH="false" flipV="false" rot="0">
            <a:off x="2994156" y="2624005"/>
            <a:ext cx="11758268" cy="5792488"/>
          </a:xfrm>
          <a:custGeom>
            <a:avLst/>
            <a:gdLst/>
            <a:ahLst/>
            <a:cxnLst/>
            <a:rect r="r" b="b" t="t" l="l"/>
            <a:pathLst>
              <a:path h="5792488" w="11758268">
                <a:moveTo>
                  <a:pt x="0" y="0"/>
                </a:moveTo>
                <a:lnTo>
                  <a:pt x="11758267" y="0"/>
                </a:lnTo>
                <a:lnTo>
                  <a:pt x="11758267" y="5792488"/>
                </a:lnTo>
                <a:lnTo>
                  <a:pt x="0" y="5792488"/>
                </a:lnTo>
                <a:lnTo>
                  <a:pt x="0" y="0"/>
                </a:lnTo>
                <a:close/>
              </a:path>
            </a:pathLst>
          </a:custGeom>
          <a:blipFill>
            <a:blip r:embed="rId2"/>
            <a:stretch>
              <a:fillRect l="0" t="0" r="-14266" b="0"/>
            </a:stretch>
          </a:blipFill>
        </p:spPr>
      </p:sp>
      <p:sp>
        <p:nvSpPr>
          <p:cNvPr name="Freeform 5" id="5"/>
          <p:cNvSpPr/>
          <p:nvPr/>
        </p:nvSpPr>
        <p:spPr>
          <a:xfrm flipH="false" flipV="false" rot="0">
            <a:off x="789998" y="8615900"/>
            <a:ext cx="857505" cy="828565"/>
          </a:xfrm>
          <a:custGeom>
            <a:avLst/>
            <a:gdLst/>
            <a:ahLst/>
            <a:cxnLst/>
            <a:rect r="r" b="b" t="t" l="l"/>
            <a:pathLst>
              <a:path h="828565" w="857505">
                <a:moveTo>
                  <a:pt x="0" y="0"/>
                </a:moveTo>
                <a:lnTo>
                  <a:pt x="857506" y="0"/>
                </a:lnTo>
                <a:lnTo>
                  <a:pt x="857506" y="828565"/>
                </a:lnTo>
                <a:lnTo>
                  <a:pt x="0" y="828565"/>
                </a:lnTo>
                <a:lnTo>
                  <a:pt x="0" y="0"/>
                </a:lnTo>
                <a:close/>
              </a:path>
            </a:pathLst>
          </a:custGeom>
          <a:blipFill>
            <a:blip r:embed="rId3">
              <a:extLst>
                <a:ext uri="{96DAC541-7B7A-43D3-8B79-37D633B846F1}">
                  <asvg:svgBlip xmlns:asvg="http://schemas.microsoft.com/office/drawing/2016/SVG/main" r:embed="rId4"/>
                </a:ext>
              </a:extLst>
            </a:blip>
            <a:stretch>
              <a:fillRect l="0" t="-267" r="0" b="-267"/>
            </a:stretch>
          </a:blipFill>
          <a:ln cap="sq">
            <a:noFill/>
            <a:prstDash val="solid"/>
            <a:miter/>
          </a:ln>
        </p:spPr>
      </p:sp>
      <p:sp>
        <p:nvSpPr>
          <p:cNvPr name="TextBox 6" id="6"/>
          <p:cNvSpPr txBox="true"/>
          <p:nvPr/>
        </p:nvSpPr>
        <p:spPr>
          <a:xfrm rot="0">
            <a:off x="5612968" y="630618"/>
            <a:ext cx="7062064" cy="679450"/>
          </a:xfrm>
          <a:prstGeom prst="rect">
            <a:avLst/>
          </a:prstGeom>
        </p:spPr>
        <p:txBody>
          <a:bodyPr anchor="t" rtlCol="false" tIns="0" lIns="0" bIns="0" rIns="0">
            <a:spAutoFit/>
          </a:bodyPr>
          <a:lstStyle/>
          <a:p>
            <a:pPr algn="just">
              <a:lnSpc>
                <a:spcPts val="5599"/>
              </a:lnSpc>
              <a:spcBef>
                <a:spcPct val="0"/>
              </a:spcBef>
            </a:pPr>
            <a:r>
              <a:rPr lang="en-US" sz="3999">
                <a:solidFill>
                  <a:srgbClr val="992800"/>
                </a:solidFill>
                <a:latin typeface="TAN Ashford"/>
                <a:ea typeface="TAN Ashford"/>
                <a:cs typeface="TAN Ashford"/>
                <a:sym typeface="TAN Ashford"/>
              </a:rPr>
              <a:t>Feature Overview</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BE1"/>
        </a:solidFill>
      </p:bgPr>
    </p:bg>
    <p:spTree>
      <p:nvGrpSpPr>
        <p:cNvPr id="1" name=""/>
        <p:cNvGrpSpPr/>
        <p:nvPr/>
      </p:nvGrpSpPr>
      <p:grpSpPr>
        <a:xfrm>
          <a:off x="0" y="0"/>
          <a:ext cx="0" cy="0"/>
          <a:chOff x="0" y="0"/>
          <a:chExt cx="0" cy="0"/>
        </a:xfrm>
      </p:grpSpPr>
      <p:sp>
        <p:nvSpPr>
          <p:cNvPr name="TextBox 2" id="2"/>
          <p:cNvSpPr txBox="true"/>
          <p:nvPr/>
        </p:nvSpPr>
        <p:spPr>
          <a:xfrm rot="0">
            <a:off x="1910902" y="8768918"/>
            <a:ext cx="15739424" cy="860505"/>
          </a:xfrm>
          <a:prstGeom prst="rect">
            <a:avLst/>
          </a:prstGeom>
        </p:spPr>
        <p:txBody>
          <a:bodyPr anchor="t" rtlCol="false" tIns="0" lIns="0" bIns="0" rIns="0">
            <a:spAutoFit/>
          </a:bodyPr>
          <a:lstStyle/>
          <a:p>
            <a:pPr algn="l">
              <a:lnSpc>
                <a:spcPts val="3496"/>
              </a:lnSpc>
            </a:pPr>
            <a:r>
              <a:rPr lang="en-US" sz="2497" b="true">
                <a:solidFill>
                  <a:srgbClr val="000000"/>
                </a:solidFill>
                <a:latin typeface="Roboto Bold"/>
                <a:ea typeface="Roboto Bold"/>
                <a:cs typeface="Roboto Bold"/>
                <a:sym typeface="Roboto Bold"/>
              </a:rPr>
              <a:t>The  shows list displays key details such as movie name, show time, total bookings, and earnings for each show. It helps in tracking performance and revenue of ongoing screenings. </a:t>
            </a:r>
          </a:p>
        </p:txBody>
      </p:sp>
      <p:sp>
        <p:nvSpPr>
          <p:cNvPr name="Freeform 3" id="3"/>
          <p:cNvSpPr/>
          <p:nvPr/>
        </p:nvSpPr>
        <p:spPr>
          <a:xfrm flipH="false" flipV="false" rot="0">
            <a:off x="789998" y="8615900"/>
            <a:ext cx="857505" cy="828565"/>
          </a:xfrm>
          <a:custGeom>
            <a:avLst/>
            <a:gdLst/>
            <a:ahLst/>
            <a:cxnLst/>
            <a:rect r="r" b="b" t="t" l="l"/>
            <a:pathLst>
              <a:path h="828565" w="857505">
                <a:moveTo>
                  <a:pt x="0" y="0"/>
                </a:moveTo>
                <a:lnTo>
                  <a:pt x="857506" y="0"/>
                </a:lnTo>
                <a:lnTo>
                  <a:pt x="857506" y="828565"/>
                </a:lnTo>
                <a:lnTo>
                  <a:pt x="0" y="828565"/>
                </a:lnTo>
                <a:lnTo>
                  <a:pt x="0" y="0"/>
                </a:lnTo>
                <a:close/>
              </a:path>
            </a:pathLst>
          </a:custGeom>
          <a:blipFill>
            <a:blip r:embed="rId2">
              <a:extLst>
                <a:ext uri="{96DAC541-7B7A-43D3-8B79-37D633B846F1}">
                  <asvg:svgBlip xmlns:asvg="http://schemas.microsoft.com/office/drawing/2016/SVG/main" r:embed="rId3"/>
                </a:ext>
              </a:extLst>
            </a:blip>
            <a:stretch>
              <a:fillRect l="0" t="-267" r="0" b="-267"/>
            </a:stretch>
          </a:blipFill>
          <a:ln cap="sq">
            <a:noFill/>
            <a:prstDash val="solid"/>
            <a:miter/>
          </a:ln>
        </p:spPr>
      </p:sp>
      <p:sp>
        <p:nvSpPr>
          <p:cNvPr name="Freeform 4" id="4"/>
          <p:cNvSpPr/>
          <p:nvPr/>
        </p:nvSpPr>
        <p:spPr>
          <a:xfrm flipH="false" flipV="false" rot="0">
            <a:off x="3307488" y="2553078"/>
            <a:ext cx="11345248" cy="5638714"/>
          </a:xfrm>
          <a:custGeom>
            <a:avLst/>
            <a:gdLst/>
            <a:ahLst/>
            <a:cxnLst/>
            <a:rect r="r" b="b" t="t" l="l"/>
            <a:pathLst>
              <a:path h="5638714" w="11345248">
                <a:moveTo>
                  <a:pt x="0" y="0"/>
                </a:moveTo>
                <a:lnTo>
                  <a:pt x="11345248" y="0"/>
                </a:lnTo>
                <a:lnTo>
                  <a:pt x="11345248" y="5638714"/>
                </a:lnTo>
                <a:lnTo>
                  <a:pt x="0" y="5638714"/>
                </a:lnTo>
                <a:lnTo>
                  <a:pt x="0" y="0"/>
                </a:lnTo>
                <a:close/>
              </a:path>
            </a:pathLst>
          </a:custGeom>
          <a:blipFill>
            <a:blip r:embed="rId4"/>
            <a:stretch>
              <a:fillRect l="0" t="-422" r="-2068" b="-422"/>
            </a:stretch>
          </a:blipFill>
        </p:spPr>
      </p:sp>
      <p:sp>
        <p:nvSpPr>
          <p:cNvPr name="TextBox 5" id="5"/>
          <p:cNvSpPr txBox="true"/>
          <p:nvPr/>
        </p:nvSpPr>
        <p:spPr>
          <a:xfrm rot="0">
            <a:off x="477739" y="1675598"/>
            <a:ext cx="3290400" cy="481329"/>
          </a:xfrm>
          <a:prstGeom prst="rect">
            <a:avLst/>
          </a:prstGeom>
        </p:spPr>
        <p:txBody>
          <a:bodyPr anchor="t" rtlCol="false" tIns="0" lIns="0" bIns="0" rIns="0">
            <a:spAutoFit/>
          </a:bodyPr>
          <a:lstStyle/>
          <a:p>
            <a:pPr algn="ctr">
              <a:lnSpc>
                <a:spcPts val="3920"/>
              </a:lnSpc>
              <a:spcBef>
                <a:spcPct val="0"/>
              </a:spcBef>
            </a:pPr>
            <a:r>
              <a:rPr lang="en-US" sz="2800">
                <a:solidFill>
                  <a:srgbClr val="11676A"/>
                </a:solidFill>
                <a:latin typeface="TAN Ashford"/>
                <a:ea typeface="TAN Ashford"/>
                <a:cs typeface="TAN Ashford"/>
                <a:sym typeface="TAN Ashford"/>
              </a:rPr>
              <a:t>List Shows </a:t>
            </a:r>
          </a:p>
        </p:txBody>
      </p:sp>
      <p:sp>
        <p:nvSpPr>
          <p:cNvPr name="TextBox 6" id="6"/>
          <p:cNvSpPr txBox="true"/>
          <p:nvPr/>
        </p:nvSpPr>
        <p:spPr>
          <a:xfrm rot="0">
            <a:off x="5612968" y="630618"/>
            <a:ext cx="7062064" cy="679450"/>
          </a:xfrm>
          <a:prstGeom prst="rect">
            <a:avLst/>
          </a:prstGeom>
        </p:spPr>
        <p:txBody>
          <a:bodyPr anchor="t" rtlCol="false" tIns="0" lIns="0" bIns="0" rIns="0">
            <a:spAutoFit/>
          </a:bodyPr>
          <a:lstStyle/>
          <a:p>
            <a:pPr algn="just">
              <a:lnSpc>
                <a:spcPts val="5599"/>
              </a:lnSpc>
              <a:spcBef>
                <a:spcPct val="0"/>
              </a:spcBef>
            </a:pPr>
            <a:r>
              <a:rPr lang="en-US" sz="3999">
                <a:solidFill>
                  <a:srgbClr val="992800"/>
                </a:solidFill>
                <a:latin typeface="TAN Ashford"/>
                <a:ea typeface="TAN Ashford"/>
                <a:cs typeface="TAN Ashford"/>
                <a:sym typeface="TAN Ashford"/>
              </a:rPr>
              <a:t>Feature Overview</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FBE1"/>
        </a:solidFill>
      </p:bgPr>
    </p:bg>
    <p:spTree>
      <p:nvGrpSpPr>
        <p:cNvPr id="1" name=""/>
        <p:cNvGrpSpPr/>
        <p:nvPr/>
      </p:nvGrpSpPr>
      <p:grpSpPr>
        <a:xfrm>
          <a:off x="0" y="0"/>
          <a:ext cx="0" cy="0"/>
          <a:chOff x="0" y="0"/>
          <a:chExt cx="0" cy="0"/>
        </a:xfrm>
      </p:grpSpPr>
      <p:sp>
        <p:nvSpPr>
          <p:cNvPr name="TextBox 2" id="2"/>
          <p:cNvSpPr txBox="true"/>
          <p:nvPr/>
        </p:nvSpPr>
        <p:spPr>
          <a:xfrm rot="0">
            <a:off x="638237" y="1595818"/>
            <a:ext cx="4241457" cy="481329"/>
          </a:xfrm>
          <a:prstGeom prst="rect">
            <a:avLst/>
          </a:prstGeom>
        </p:spPr>
        <p:txBody>
          <a:bodyPr anchor="t" rtlCol="false" tIns="0" lIns="0" bIns="0" rIns="0">
            <a:spAutoFit/>
          </a:bodyPr>
          <a:lstStyle/>
          <a:p>
            <a:pPr algn="ctr">
              <a:lnSpc>
                <a:spcPts val="3920"/>
              </a:lnSpc>
              <a:spcBef>
                <a:spcPct val="0"/>
              </a:spcBef>
            </a:pPr>
            <a:r>
              <a:rPr lang="en-US" sz="2800">
                <a:solidFill>
                  <a:srgbClr val="11676A"/>
                </a:solidFill>
                <a:latin typeface="TAN Ashford"/>
                <a:ea typeface="TAN Ashford"/>
                <a:cs typeface="TAN Ashford"/>
                <a:sym typeface="TAN Ashford"/>
              </a:rPr>
              <a:t>List of Bookings </a:t>
            </a:r>
          </a:p>
        </p:txBody>
      </p:sp>
      <p:sp>
        <p:nvSpPr>
          <p:cNvPr name="TextBox 3" id="3"/>
          <p:cNvSpPr txBox="true"/>
          <p:nvPr/>
        </p:nvSpPr>
        <p:spPr>
          <a:xfrm rot="0">
            <a:off x="1910902" y="8768918"/>
            <a:ext cx="15739424" cy="860505"/>
          </a:xfrm>
          <a:prstGeom prst="rect">
            <a:avLst/>
          </a:prstGeom>
        </p:spPr>
        <p:txBody>
          <a:bodyPr anchor="t" rtlCol="false" tIns="0" lIns="0" bIns="0" rIns="0">
            <a:spAutoFit/>
          </a:bodyPr>
          <a:lstStyle/>
          <a:p>
            <a:pPr algn="l">
              <a:lnSpc>
                <a:spcPts val="3496"/>
              </a:lnSpc>
            </a:pPr>
            <a:r>
              <a:rPr lang="en-US" sz="2497" b="true">
                <a:solidFill>
                  <a:srgbClr val="000000"/>
                </a:solidFill>
                <a:latin typeface="Roboto Bold"/>
                <a:ea typeface="Roboto Bold"/>
                <a:cs typeface="Roboto Bold"/>
                <a:sym typeface="Roboto Bold"/>
              </a:rPr>
              <a:t>The booking list includes user name, movie name, show time, number of seats booked, and the total amount paid for each reservation</a:t>
            </a:r>
          </a:p>
        </p:txBody>
      </p:sp>
      <p:sp>
        <p:nvSpPr>
          <p:cNvPr name="Freeform 4" id="4"/>
          <p:cNvSpPr/>
          <p:nvPr/>
        </p:nvSpPr>
        <p:spPr>
          <a:xfrm flipH="false" flipV="false" rot="0">
            <a:off x="789998" y="8615900"/>
            <a:ext cx="857505" cy="828565"/>
          </a:xfrm>
          <a:custGeom>
            <a:avLst/>
            <a:gdLst/>
            <a:ahLst/>
            <a:cxnLst/>
            <a:rect r="r" b="b" t="t" l="l"/>
            <a:pathLst>
              <a:path h="828565" w="857505">
                <a:moveTo>
                  <a:pt x="0" y="0"/>
                </a:moveTo>
                <a:lnTo>
                  <a:pt x="857506" y="0"/>
                </a:lnTo>
                <a:lnTo>
                  <a:pt x="857506" y="828565"/>
                </a:lnTo>
                <a:lnTo>
                  <a:pt x="0" y="828565"/>
                </a:lnTo>
                <a:lnTo>
                  <a:pt x="0" y="0"/>
                </a:lnTo>
                <a:close/>
              </a:path>
            </a:pathLst>
          </a:custGeom>
          <a:blipFill>
            <a:blip r:embed="rId2">
              <a:extLst>
                <a:ext uri="{96DAC541-7B7A-43D3-8B79-37D633B846F1}">
                  <asvg:svgBlip xmlns:asvg="http://schemas.microsoft.com/office/drawing/2016/SVG/main" r:embed="rId3"/>
                </a:ext>
              </a:extLst>
            </a:blip>
            <a:stretch>
              <a:fillRect l="0" t="-267" r="0" b="-267"/>
            </a:stretch>
          </a:blipFill>
          <a:ln cap="sq">
            <a:noFill/>
            <a:prstDash val="solid"/>
            <a:miter/>
          </a:ln>
        </p:spPr>
      </p:sp>
      <p:sp>
        <p:nvSpPr>
          <p:cNvPr name="Freeform 5" id="5"/>
          <p:cNvSpPr/>
          <p:nvPr/>
        </p:nvSpPr>
        <p:spPr>
          <a:xfrm flipH="false" flipV="false" rot="0">
            <a:off x="789998" y="2520089"/>
            <a:ext cx="17012089" cy="5246822"/>
          </a:xfrm>
          <a:custGeom>
            <a:avLst/>
            <a:gdLst/>
            <a:ahLst/>
            <a:cxnLst/>
            <a:rect r="r" b="b" t="t" l="l"/>
            <a:pathLst>
              <a:path h="5246822" w="17012089">
                <a:moveTo>
                  <a:pt x="0" y="0"/>
                </a:moveTo>
                <a:lnTo>
                  <a:pt x="17012089" y="0"/>
                </a:lnTo>
                <a:lnTo>
                  <a:pt x="17012089" y="5246822"/>
                </a:lnTo>
                <a:lnTo>
                  <a:pt x="0" y="5246822"/>
                </a:lnTo>
                <a:lnTo>
                  <a:pt x="0" y="0"/>
                </a:lnTo>
                <a:close/>
              </a:path>
            </a:pathLst>
          </a:custGeom>
          <a:blipFill>
            <a:blip r:embed="rId4"/>
            <a:stretch>
              <a:fillRect l="0" t="-680" r="-965" b="-2198"/>
            </a:stretch>
          </a:blipFill>
        </p:spPr>
      </p:sp>
      <p:sp>
        <p:nvSpPr>
          <p:cNvPr name="TextBox 6" id="6"/>
          <p:cNvSpPr txBox="true"/>
          <p:nvPr/>
        </p:nvSpPr>
        <p:spPr>
          <a:xfrm rot="0">
            <a:off x="5612968" y="630618"/>
            <a:ext cx="7062064" cy="679450"/>
          </a:xfrm>
          <a:prstGeom prst="rect">
            <a:avLst/>
          </a:prstGeom>
        </p:spPr>
        <p:txBody>
          <a:bodyPr anchor="t" rtlCol="false" tIns="0" lIns="0" bIns="0" rIns="0">
            <a:spAutoFit/>
          </a:bodyPr>
          <a:lstStyle/>
          <a:p>
            <a:pPr algn="just">
              <a:lnSpc>
                <a:spcPts val="5599"/>
              </a:lnSpc>
              <a:spcBef>
                <a:spcPct val="0"/>
              </a:spcBef>
            </a:pPr>
            <a:r>
              <a:rPr lang="en-US" sz="3999">
                <a:solidFill>
                  <a:srgbClr val="992800"/>
                </a:solidFill>
                <a:latin typeface="TAN Ashford"/>
                <a:ea typeface="TAN Ashford"/>
                <a:cs typeface="TAN Ashford"/>
                <a:sym typeface="TAN Ashford"/>
              </a:rPr>
              <a:t>Feature Overview</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FBE1"/>
        </a:solidFill>
      </p:bgPr>
    </p:bg>
    <p:spTree>
      <p:nvGrpSpPr>
        <p:cNvPr id="1" name=""/>
        <p:cNvGrpSpPr/>
        <p:nvPr/>
      </p:nvGrpSpPr>
      <p:grpSpPr>
        <a:xfrm>
          <a:off x="0" y="0"/>
          <a:ext cx="0" cy="0"/>
          <a:chOff x="0" y="0"/>
          <a:chExt cx="0" cy="0"/>
        </a:xfrm>
      </p:grpSpPr>
      <p:sp>
        <p:nvSpPr>
          <p:cNvPr name="TextBox 2" id="2"/>
          <p:cNvSpPr txBox="true"/>
          <p:nvPr/>
        </p:nvSpPr>
        <p:spPr>
          <a:xfrm rot="0">
            <a:off x="638237" y="1595818"/>
            <a:ext cx="4663928" cy="481329"/>
          </a:xfrm>
          <a:prstGeom prst="rect">
            <a:avLst/>
          </a:prstGeom>
        </p:spPr>
        <p:txBody>
          <a:bodyPr anchor="t" rtlCol="false" tIns="0" lIns="0" bIns="0" rIns="0">
            <a:spAutoFit/>
          </a:bodyPr>
          <a:lstStyle/>
          <a:p>
            <a:pPr algn="ctr">
              <a:lnSpc>
                <a:spcPts val="3920"/>
              </a:lnSpc>
              <a:spcBef>
                <a:spcPct val="0"/>
              </a:spcBef>
            </a:pPr>
            <a:r>
              <a:rPr lang="en-US" sz="2800">
                <a:solidFill>
                  <a:srgbClr val="11676A"/>
                </a:solidFill>
                <a:latin typeface="TAN Ashford"/>
                <a:ea typeface="TAN Ashford"/>
                <a:cs typeface="TAN Ashford"/>
                <a:sym typeface="TAN Ashford"/>
              </a:rPr>
              <a:t>Available Shows </a:t>
            </a:r>
          </a:p>
        </p:txBody>
      </p:sp>
      <p:sp>
        <p:nvSpPr>
          <p:cNvPr name="TextBox 3" id="3"/>
          <p:cNvSpPr txBox="true"/>
          <p:nvPr/>
        </p:nvSpPr>
        <p:spPr>
          <a:xfrm rot="0">
            <a:off x="1910902" y="8892125"/>
            <a:ext cx="15739424" cy="860505"/>
          </a:xfrm>
          <a:prstGeom prst="rect">
            <a:avLst/>
          </a:prstGeom>
        </p:spPr>
        <p:txBody>
          <a:bodyPr anchor="t" rtlCol="false" tIns="0" lIns="0" bIns="0" rIns="0">
            <a:spAutoFit/>
          </a:bodyPr>
          <a:lstStyle/>
          <a:p>
            <a:pPr algn="l">
              <a:lnSpc>
                <a:spcPts val="3496"/>
              </a:lnSpc>
            </a:pPr>
            <a:r>
              <a:rPr lang="en-US" sz="2497" b="true">
                <a:solidFill>
                  <a:srgbClr val="000000"/>
                </a:solidFill>
                <a:latin typeface="Roboto Bold"/>
                <a:ea typeface="Roboto Bold"/>
                <a:cs typeface="Roboto Bold"/>
                <a:sym typeface="Roboto Bold"/>
              </a:rPr>
              <a:t>Browse movies with ratings and detailed information to help you choose the perfect experience for booking tickets</a:t>
            </a:r>
          </a:p>
        </p:txBody>
      </p:sp>
      <p:sp>
        <p:nvSpPr>
          <p:cNvPr name="Freeform 4" id="4"/>
          <p:cNvSpPr/>
          <p:nvPr/>
        </p:nvSpPr>
        <p:spPr>
          <a:xfrm flipH="false" flipV="false" rot="0">
            <a:off x="820077" y="8844018"/>
            <a:ext cx="857505" cy="828565"/>
          </a:xfrm>
          <a:custGeom>
            <a:avLst/>
            <a:gdLst/>
            <a:ahLst/>
            <a:cxnLst/>
            <a:rect r="r" b="b" t="t" l="l"/>
            <a:pathLst>
              <a:path h="828565" w="857505">
                <a:moveTo>
                  <a:pt x="0" y="0"/>
                </a:moveTo>
                <a:lnTo>
                  <a:pt x="857506" y="0"/>
                </a:lnTo>
                <a:lnTo>
                  <a:pt x="857506" y="828564"/>
                </a:lnTo>
                <a:lnTo>
                  <a:pt x="0" y="828564"/>
                </a:lnTo>
                <a:lnTo>
                  <a:pt x="0" y="0"/>
                </a:lnTo>
                <a:close/>
              </a:path>
            </a:pathLst>
          </a:custGeom>
          <a:blipFill>
            <a:blip r:embed="rId2">
              <a:extLst>
                <a:ext uri="{96DAC541-7B7A-43D3-8B79-37D633B846F1}">
                  <asvg:svgBlip xmlns:asvg="http://schemas.microsoft.com/office/drawing/2016/SVG/main" r:embed="rId3"/>
                </a:ext>
              </a:extLst>
            </a:blip>
            <a:stretch>
              <a:fillRect l="0" t="-267" r="0" b="-267"/>
            </a:stretch>
          </a:blipFill>
          <a:ln cap="sq">
            <a:noFill/>
            <a:prstDash val="solid"/>
            <a:miter/>
          </a:ln>
        </p:spPr>
      </p:sp>
      <p:sp>
        <p:nvSpPr>
          <p:cNvPr name="Freeform 5" id="5"/>
          <p:cNvSpPr/>
          <p:nvPr/>
        </p:nvSpPr>
        <p:spPr>
          <a:xfrm flipH="false" flipV="false" rot="0">
            <a:off x="2987459" y="2565955"/>
            <a:ext cx="12313082" cy="5884987"/>
          </a:xfrm>
          <a:custGeom>
            <a:avLst/>
            <a:gdLst/>
            <a:ahLst/>
            <a:cxnLst/>
            <a:rect r="r" b="b" t="t" l="l"/>
            <a:pathLst>
              <a:path h="5884987" w="12313082">
                <a:moveTo>
                  <a:pt x="0" y="0"/>
                </a:moveTo>
                <a:lnTo>
                  <a:pt x="12313082" y="0"/>
                </a:lnTo>
                <a:lnTo>
                  <a:pt x="12313082" y="5884987"/>
                </a:lnTo>
                <a:lnTo>
                  <a:pt x="0" y="5884987"/>
                </a:lnTo>
                <a:lnTo>
                  <a:pt x="0" y="0"/>
                </a:lnTo>
                <a:close/>
              </a:path>
            </a:pathLst>
          </a:custGeom>
          <a:blipFill>
            <a:blip r:embed="rId4"/>
            <a:stretch>
              <a:fillRect l="0" t="0" r="0" b="-18911"/>
            </a:stretch>
          </a:blipFill>
        </p:spPr>
      </p:sp>
      <p:sp>
        <p:nvSpPr>
          <p:cNvPr name="TextBox 6" id="6"/>
          <p:cNvSpPr txBox="true"/>
          <p:nvPr/>
        </p:nvSpPr>
        <p:spPr>
          <a:xfrm rot="0">
            <a:off x="5612968" y="630618"/>
            <a:ext cx="7062064" cy="679450"/>
          </a:xfrm>
          <a:prstGeom prst="rect">
            <a:avLst/>
          </a:prstGeom>
        </p:spPr>
        <p:txBody>
          <a:bodyPr anchor="t" rtlCol="false" tIns="0" lIns="0" bIns="0" rIns="0">
            <a:spAutoFit/>
          </a:bodyPr>
          <a:lstStyle/>
          <a:p>
            <a:pPr algn="just">
              <a:lnSpc>
                <a:spcPts val="5599"/>
              </a:lnSpc>
              <a:spcBef>
                <a:spcPct val="0"/>
              </a:spcBef>
            </a:pPr>
            <a:r>
              <a:rPr lang="en-US" sz="3999">
                <a:solidFill>
                  <a:srgbClr val="992800"/>
                </a:solidFill>
                <a:latin typeface="TAN Ashford"/>
                <a:ea typeface="TAN Ashford"/>
                <a:cs typeface="TAN Ashford"/>
                <a:sym typeface="TAN Ashford"/>
              </a:rPr>
              <a:t>Feature Overview</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FFBE1"/>
        </a:solidFill>
      </p:bgPr>
    </p:bg>
    <p:spTree>
      <p:nvGrpSpPr>
        <p:cNvPr id="1" name=""/>
        <p:cNvGrpSpPr/>
        <p:nvPr/>
      </p:nvGrpSpPr>
      <p:grpSpPr>
        <a:xfrm>
          <a:off x="0" y="0"/>
          <a:ext cx="0" cy="0"/>
          <a:chOff x="0" y="0"/>
          <a:chExt cx="0" cy="0"/>
        </a:xfrm>
      </p:grpSpPr>
      <p:sp>
        <p:nvSpPr>
          <p:cNvPr name="TextBox 2" id="2"/>
          <p:cNvSpPr txBox="true"/>
          <p:nvPr/>
        </p:nvSpPr>
        <p:spPr>
          <a:xfrm rot="0">
            <a:off x="638237" y="1595818"/>
            <a:ext cx="7130402" cy="481329"/>
          </a:xfrm>
          <a:prstGeom prst="rect">
            <a:avLst/>
          </a:prstGeom>
        </p:spPr>
        <p:txBody>
          <a:bodyPr anchor="t" rtlCol="false" tIns="0" lIns="0" bIns="0" rIns="0">
            <a:spAutoFit/>
          </a:bodyPr>
          <a:lstStyle/>
          <a:p>
            <a:pPr algn="ctr">
              <a:lnSpc>
                <a:spcPts val="3920"/>
              </a:lnSpc>
              <a:spcBef>
                <a:spcPct val="0"/>
              </a:spcBef>
            </a:pPr>
            <a:r>
              <a:rPr lang="en-US" sz="2800">
                <a:solidFill>
                  <a:srgbClr val="11676A"/>
                </a:solidFill>
                <a:latin typeface="TAN Ashford"/>
                <a:ea typeface="TAN Ashford"/>
                <a:cs typeface="TAN Ashford"/>
                <a:sym typeface="TAN Ashford"/>
              </a:rPr>
              <a:t>Seat &amp; Showtime Selection </a:t>
            </a:r>
          </a:p>
        </p:txBody>
      </p:sp>
      <p:sp>
        <p:nvSpPr>
          <p:cNvPr name="TextBox 3" id="3"/>
          <p:cNvSpPr txBox="true"/>
          <p:nvPr/>
        </p:nvSpPr>
        <p:spPr>
          <a:xfrm rot="0">
            <a:off x="1910902" y="8892125"/>
            <a:ext cx="15739424" cy="422355"/>
          </a:xfrm>
          <a:prstGeom prst="rect">
            <a:avLst/>
          </a:prstGeom>
        </p:spPr>
        <p:txBody>
          <a:bodyPr anchor="t" rtlCol="false" tIns="0" lIns="0" bIns="0" rIns="0">
            <a:spAutoFit/>
          </a:bodyPr>
          <a:lstStyle/>
          <a:p>
            <a:pPr algn="l">
              <a:lnSpc>
                <a:spcPts val="3496"/>
              </a:lnSpc>
            </a:pPr>
            <a:r>
              <a:rPr lang="en-US" sz="2497" b="true">
                <a:solidFill>
                  <a:srgbClr val="000000"/>
                </a:solidFill>
                <a:latin typeface="Roboto Bold"/>
                <a:ea typeface="Roboto Bold"/>
                <a:cs typeface="Roboto Bold"/>
                <a:sym typeface="Roboto Bold"/>
              </a:rPr>
              <a:t>Pick your favourite seats and showtime for a comfortable viewing experience</a:t>
            </a:r>
          </a:p>
        </p:txBody>
      </p:sp>
      <p:sp>
        <p:nvSpPr>
          <p:cNvPr name="Freeform 4" id="4"/>
          <p:cNvSpPr/>
          <p:nvPr/>
        </p:nvSpPr>
        <p:spPr>
          <a:xfrm flipH="false" flipV="false" rot="0">
            <a:off x="820077" y="8712832"/>
            <a:ext cx="857505" cy="828565"/>
          </a:xfrm>
          <a:custGeom>
            <a:avLst/>
            <a:gdLst/>
            <a:ahLst/>
            <a:cxnLst/>
            <a:rect r="r" b="b" t="t" l="l"/>
            <a:pathLst>
              <a:path h="828565" w="857505">
                <a:moveTo>
                  <a:pt x="0" y="0"/>
                </a:moveTo>
                <a:lnTo>
                  <a:pt x="857506" y="0"/>
                </a:lnTo>
                <a:lnTo>
                  <a:pt x="857506" y="828565"/>
                </a:lnTo>
                <a:lnTo>
                  <a:pt x="0" y="828565"/>
                </a:lnTo>
                <a:lnTo>
                  <a:pt x="0" y="0"/>
                </a:lnTo>
                <a:close/>
              </a:path>
            </a:pathLst>
          </a:custGeom>
          <a:blipFill>
            <a:blip r:embed="rId2">
              <a:extLst>
                <a:ext uri="{96DAC541-7B7A-43D3-8B79-37D633B846F1}">
                  <asvg:svgBlip xmlns:asvg="http://schemas.microsoft.com/office/drawing/2016/SVG/main" r:embed="rId3"/>
                </a:ext>
              </a:extLst>
            </a:blip>
            <a:stretch>
              <a:fillRect l="0" t="-267" r="0" b="-267"/>
            </a:stretch>
          </a:blipFill>
          <a:ln cap="sq">
            <a:noFill/>
            <a:prstDash val="solid"/>
            <a:miter/>
          </a:ln>
        </p:spPr>
      </p:sp>
      <p:sp>
        <p:nvSpPr>
          <p:cNvPr name="Freeform 5" id="5"/>
          <p:cNvSpPr/>
          <p:nvPr/>
        </p:nvSpPr>
        <p:spPr>
          <a:xfrm flipH="false" flipV="false" rot="0">
            <a:off x="7467850" y="2400997"/>
            <a:ext cx="8852736" cy="5732231"/>
          </a:xfrm>
          <a:custGeom>
            <a:avLst/>
            <a:gdLst/>
            <a:ahLst/>
            <a:cxnLst/>
            <a:rect r="r" b="b" t="t" l="l"/>
            <a:pathLst>
              <a:path h="5732231" w="8852736">
                <a:moveTo>
                  <a:pt x="0" y="0"/>
                </a:moveTo>
                <a:lnTo>
                  <a:pt x="8852736" y="0"/>
                </a:lnTo>
                <a:lnTo>
                  <a:pt x="8852736" y="5732232"/>
                </a:lnTo>
                <a:lnTo>
                  <a:pt x="0" y="5732232"/>
                </a:lnTo>
                <a:lnTo>
                  <a:pt x="0" y="0"/>
                </a:lnTo>
                <a:close/>
              </a:path>
            </a:pathLst>
          </a:custGeom>
          <a:blipFill>
            <a:blip r:embed="rId4"/>
            <a:stretch>
              <a:fillRect l="0" t="0" r="0" b="0"/>
            </a:stretch>
          </a:blipFill>
        </p:spPr>
      </p:sp>
      <p:sp>
        <p:nvSpPr>
          <p:cNvPr name="Freeform 6" id="6"/>
          <p:cNvSpPr/>
          <p:nvPr/>
        </p:nvSpPr>
        <p:spPr>
          <a:xfrm flipH="false" flipV="false" rot="0">
            <a:off x="3132018" y="2400997"/>
            <a:ext cx="3610663" cy="3326035"/>
          </a:xfrm>
          <a:custGeom>
            <a:avLst/>
            <a:gdLst/>
            <a:ahLst/>
            <a:cxnLst/>
            <a:rect r="r" b="b" t="t" l="l"/>
            <a:pathLst>
              <a:path h="3326035" w="3610663">
                <a:moveTo>
                  <a:pt x="0" y="0"/>
                </a:moveTo>
                <a:lnTo>
                  <a:pt x="3610663" y="0"/>
                </a:lnTo>
                <a:lnTo>
                  <a:pt x="3610663" y="3326036"/>
                </a:lnTo>
                <a:lnTo>
                  <a:pt x="0" y="3326036"/>
                </a:lnTo>
                <a:lnTo>
                  <a:pt x="0" y="0"/>
                </a:lnTo>
                <a:close/>
              </a:path>
            </a:pathLst>
          </a:custGeom>
          <a:blipFill>
            <a:blip r:embed="rId5"/>
            <a:stretch>
              <a:fillRect l="0" t="0" r="0" b="-8557"/>
            </a:stretch>
          </a:blipFill>
        </p:spPr>
      </p:sp>
      <p:sp>
        <p:nvSpPr>
          <p:cNvPr name="Freeform 7" id="7"/>
          <p:cNvSpPr/>
          <p:nvPr/>
        </p:nvSpPr>
        <p:spPr>
          <a:xfrm flipH="false" flipV="false" rot="0">
            <a:off x="3226124" y="6069933"/>
            <a:ext cx="3422452" cy="2353656"/>
          </a:xfrm>
          <a:custGeom>
            <a:avLst/>
            <a:gdLst/>
            <a:ahLst/>
            <a:cxnLst/>
            <a:rect r="r" b="b" t="t" l="l"/>
            <a:pathLst>
              <a:path h="2353656" w="3422452">
                <a:moveTo>
                  <a:pt x="0" y="0"/>
                </a:moveTo>
                <a:lnTo>
                  <a:pt x="3422452" y="0"/>
                </a:lnTo>
                <a:lnTo>
                  <a:pt x="3422452" y="2353656"/>
                </a:lnTo>
                <a:lnTo>
                  <a:pt x="0" y="2353656"/>
                </a:lnTo>
                <a:lnTo>
                  <a:pt x="0" y="0"/>
                </a:lnTo>
                <a:close/>
              </a:path>
            </a:pathLst>
          </a:custGeom>
          <a:blipFill>
            <a:blip r:embed="rId6"/>
            <a:stretch>
              <a:fillRect l="-4632" t="-10629" r="-3397" b="-7185"/>
            </a:stretch>
          </a:blipFill>
        </p:spPr>
      </p:sp>
      <p:sp>
        <p:nvSpPr>
          <p:cNvPr name="TextBox 8" id="8"/>
          <p:cNvSpPr txBox="true"/>
          <p:nvPr/>
        </p:nvSpPr>
        <p:spPr>
          <a:xfrm rot="0">
            <a:off x="5612968" y="630618"/>
            <a:ext cx="7062064" cy="679450"/>
          </a:xfrm>
          <a:prstGeom prst="rect">
            <a:avLst/>
          </a:prstGeom>
        </p:spPr>
        <p:txBody>
          <a:bodyPr anchor="t" rtlCol="false" tIns="0" lIns="0" bIns="0" rIns="0">
            <a:spAutoFit/>
          </a:bodyPr>
          <a:lstStyle/>
          <a:p>
            <a:pPr algn="just">
              <a:lnSpc>
                <a:spcPts val="5599"/>
              </a:lnSpc>
              <a:spcBef>
                <a:spcPct val="0"/>
              </a:spcBef>
            </a:pPr>
            <a:r>
              <a:rPr lang="en-US" sz="3999">
                <a:solidFill>
                  <a:srgbClr val="992800"/>
                </a:solidFill>
                <a:latin typeface="TAN Ashford"/>
                <a:ea typeface="TAN Ashford"/>
                <a:cs typeface="TAN Ashford"/>
                <a:sym typeface="TAN Ashford"/>
              </a:rPr>
              <a:t>Feature Overview</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FFBE1"/>
        </a:solidFill>
      </p:bgPr>
    </p:bg>
    <p:spTree>
      <p:nvGrpSpPr>
        <p:cNvPr id="1" name=""/>
        <p:cNvGrpSpPr/>
        <p:nvPr/>
      </p:nvGrpSpPr>
      <p:grpSpPr>
        <a:xfrm>
          <a:off x="0" y="0"/>
          <a:ext cx="0" cy="0"/>
          <a:chOff x="0" y="0"/>
          <a:chExt cx="0" cy="0"/>
        </a:xfrm>
      </p:grpSpPr>
      <p:sp>
        <p:nvSpPr>
          <p:cNvPr name="TextBox 2" id="2"/>
          <p:cNvSpPr txBox="true"/>
          <p:nvPr/>
        </p:nvSpPr>
        <p:spPr>
          <a:xfrm rot="0">
            <a:off x="557988" y="1595277"/>
            <a:ext cx="6901565" cy="481329"/>
          </a:xfrm>
          <a:prstGeom prst="rect">
            <a:avLst/>
          </a:prstGeom>
        </p:spPr>
        <p:txBody>
          <a:bodyPr anchor="t" rtlCol="false" tIns="0" lIns="0" bIns="0" rIns="0">
            <a:spAutoFit/>
          </a:bodyPr>
          <a:lstStyle/>
          <a:p>
            <a:pPr algn="ctr">
              <a:lnSpc>
                <a:spcPts val="3920"/>
              </a:lnSpc>
              <a:spcBef>
                <a:spcPct val="0"/>
              </a:spcBef>
            </a:pPr>
            <a:r>
              <a:rPr lang="en-US" sz="2800">
                <a:solidFill>
                  <a:srgbClr val="11676A"/>
                </a:solidFill>
                <a:latin typeface="TAN Ashford"/>
                <a:ea typeface="TAN Ashford"/>
                <a:cs typeface="TAN Ashford"/>
                <a:sym typeface="TAN Ashford"/>
              </a:rPr>
              <a:t>Payments &amp; Booking List  </a:t>
            </a:r>
          </a:p>
        </p:txBody>
      </p:sp>
      <p:sp>
        <p:nvSpPr>
          <p:cNvPr name="TextBox 3" id="3"/>
          <p:cNvSpPr txBox="true"/>
          <p:nvPr/>
        </p:nvSpPr>
        <p:spPr>
          <a:xfrm rot="0">
            <a:off x="1910902" y="8892125"/>
            <a:ext cx="15739424" cy="860505"/>
          </a:xfrm>
          <a:prstGeom prst="rect">
            <a:avLst/>
          </a:prstGeom>
        </p:spPr>
        <p:txBody>
          <a:bodyPr anchor="t" rtlCol="false" tIns="0" lIns="0" bIns="0" rIns="0">
            <a:spAutoFit/>
          </a:bodyPr>
          <a:lstStyle/>
          <a:p>
            <a:pPr algn="l">
              <a:lnSpc>
                <a:spcPts val="3496"/>
              </a:lnSpc>
            </a:pPr>
            <a:r>
              <a:rPr lang="en-US" sz="2497" b="true">
                <a:solidFill>
                  <a:srgbClr val="000000"/>
                </a:solidFill>
                <a:latin typeface="Roboto Bold"/>
                <a:ea typeface="Roboto Bold"/>
                <a:cs typeface="Roboto Bold"/>
                <a:sym typeface="Roboto Bold"/>
              </a:rPr>
              <a:t>All payments are securely processed via Stripe for a fast and safe checkout experience. The Booking List provides an overview of all your movie ticket reservations in one place</a:t>
            </a:r>
          </a:p>
        </p:txBody>
      </p:sp>
      <p:sp>
        <p:nvSpPr>
          <p:cNvPr name="Freeform 4" id="4"/>
          <p:cNvSpPr/>
          <p:nvPr/>
        </p:nvSpPr>
        <p:spPr>
          <a:xfrm flipH="false" flipV="false" rot="0">
            <a:off x="820077" y="8844018"/>
            <a:ext cx="857505" cy="828565"/>
          </a:xfrm>
          <a:custGeom>
            <a:avLst/>
            <a:gdLst/>
            <a:ahLst/>
            <a:cxnLst/>
            <a:rect r="r" b="b" t="t" l="l"/>
            <a:pathLst>
              <a:path h="828565" w="857505">
                <a:moveTo>
                  <a:pt x="0" y="0"/>
                </a:moveTo>
                <a:lnTo>
                  <a:pt x="857506" y="0"/>
                </a:lnTo>
                <a:lnTo>
                  <a:pt x="857506" y="828564"/>
                </a:lnTo>
                <a:lnTo>
                  <a:pt x="0" y="828564"/>
                </a:lnTo>
                <a:lnTo>
                  <a:pt x="0" y="0"/>
                </a:lnTo>
                <a:close/>
              </a:path>
            </a:pathLst>
          </a:custGeom>
          <a:blipFill>
            <a:blip r:embed="rId2">
              <a:extLst>
                <a:ext uri="{96DAC541-7B7A-43D3-8B79-37D633B846F1}">
                  <asvg:svgBlip xmlns:asvg="http://schemas.microsoft.com/office/drawing/2016/SVG/main" r:embed="rId3"/>
                </a:ext>
              </a:extLst>
            </a:blip>
            <a:stretch>
              <a:fillRect l="0" t="-267" r="0" b="-267"/>
            </a:stretch>
          </a:blipFill>
          <a:ln cap="sq">
            <a:noFill/>
            <a:prstDash val="solid"/>
            <a:miter/>
          </a:ln>
        </p:spPr>
      </p:sp>
      <p:sp>
        <p:nvSpPr>
          <p:cNvPr name="Freeform 5" id="5"/>
          <p:cNvSpPr/>
          <p:nvPr/>
        </p:nvSpPr>
        <p:spPr>
          <a:xfrm flipH="false" flipV="false" rot="0">
            <a:off x="1677583" y="2467131"/>
            <a:ext cx="7000366" cy="6082635"/>
          </a:xfrm>
          <a:custGeom>
            <a:avLst/>
            <a:gdLst/>
            <a:ahLst/>
            <a:cxnLst/>
            <a:rect r="r" b="b" t="t" l="l"/>
            <a:pathLst>
              <a:path h="6082635" w="7000366">
                <a:moveTo>
                  <a:pt x="0" y="0"/>
                </a:moveTo>
                <a:lnTo>
                  <a:pt x="7000365" y="0"/>
                </a:lnTo>
                <a:lnTo>
                  <a:pt x="7000365" y="6082635"/>
                </a:lnTo>
                <a:lnTo>
                  <a:pt x="0" y="6082635"/>
                </a:lnTo>
                <a:lnTo>
                  <a:pt x="0" y="0"/>
                </a:lnTo>
                <a:close/>
              </a:path>
            </a:pathLst>
          </a:custGeom>
          <a:blipFill>
            <a:blip r:embed="rId4"/>
            <a:stretch>
              <a:fillRect l="0" t="0" r="0" b="0"/>
            </a:stretch>
          </a:blipFill>
        </p:spPr>
      </p:sp>
      <p:sp>
        <p:nvSpPr>
          <p:cNvPr name="Freeform 6" id="6"/>
          <p:cNvSpPr/>
          <p:nvPr/>
        </p:nvSpPr>
        <p:spPr>
          <a:xfrm flipH="false" flipV="false" rot="0">
            <a:off x="9144000" y="3471377"/>
            <a:ext cx="8633305" cy="4074144"/>
          </a:xfrm>
          <a:custGeom>
            <a:avLst/>
            <a:gdLst/>
            <a:ahLst/>
            <a:cxnLst/>
            <a:rect r="r" b="b" t="t" l="l"/>
            <a:pathLst>
              <a:path h="4074144" w="8633305">
                <a:moveTo>
                  <a:pt x="0" y="0"/>
                </a:moveTo>
                <a:lnTo>
                  <a:pt x="8633305" y="0"/>
                </a:lnTo>
                <a:lnTo>
                  <a:pt x="8633305" y="4074144"/>
                </a:lnTo>
                <a:lnTo>
                  <a:pt x="0" y="4074144"/>
                </a:lnTo>
                <a:lnTo>
                  <a:pt x="0" y="0"/>
                </a:lnTo>
                <a:close/>
              </a:path>
            </a:pathLst>
          </a:custGeom>
          <a:blipFill>
            <a:blip r:embed="rId5"/>
            <a:stretch>
              <a:fillRect l="0" t="0" r="0" b="0"/>
            </a:stretch>
          </a:blipFill>
        </p:spPr>
      </p:sp>
      <p:sp>
        <p:nvSpPr>
          <p:cNvPr name="TextBox 7" id="7"/>
          <p:cNvSpPr txBox="true"/>
          <p:nvPr/>
        </p:nvSpPr>
        <p:spPr>
          <a:xfrm rot="0">
            <a:off x="5612968" y="630618"/>
            <a:ext cx="7062064" cy="679450"/>
          </a:xfrm>
          <a:prstGeom prst="rect">
            <a:avLst/>
          </a:prstGeom>
        </p:spPr>
        <p:txBody>
          <a:bodyPr anchor="t" rtlCol="false" tIns="0" lIns="0" bIns="0" rIns="0">
            <a:spAutoFit/>
          </a:bodyPr>
          <a:lstStyle/>
          <a:p>
            <a:pPr algn="just">
              <a:lnSpc>
                <a:spcPts val="5599"/>
              </a:lnSpc>
              <a:spcBef>
                <a:spcPct val="0"/>
              </a:spcBef>
            </a:pPr>
            <a:r>
              <a:rPr lang="en-US" sz="3999">
                <a:solidFill>
                  <a:srgbClr val="992800"/>
                </a:solidFill>
                <a:latin typeface="TAN Ashford"/>
                <a:ea typeface="TAN Ashford"/>
                <a:cs typeface="TAN Ashford"/>
                <a:sym typeface="TAN Ashford"/>
              </a:rPr>
              <a:t>Feature Overview</a:t>
            </a:r>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FFFBE1"/>
        </a:solidFill>
      </p:bgPr>
    </p:bg>
    <p:spTree>
      <p:nvGrpSpPr>
        <p:cNvPr id="1" name=""/>
        <p:cNvGrpSpPr/>
        <p:nvPr/>
      </p:nvGrpSpPr>
      <p:grpSpPr>
        <a:xfrm>
          <a:off x="0" y="0"/>
          <a:ext cx="0" cy="0"/>
          <a:chOff x="0" y="0"/>
          <a:chExt cx="0" cy="0"/>
        </a:xfrm>
      </p:grpSpPr>
      <p:sp>
        <p:nvSpPr>
          <p:cNvPr name="TextBox 2" id="2"/>
          <p:cNvSpPr txBox="true"/>
          <p:nvPr/>
        </p:nvSpPr>
        <p:spPr>
          <a:xfrm rot="0">
            <a:off x="816643" y="1395496"/>
            <a:ext cx="4174485" cy="679450"/>
          </a:xfrm>
          <a:prstGeom prst="rect">
            <a:avLst/>
          </a:prstGeom>
        </p:spPr>
        <p:txBody>
          <a:bodyPr anchor="t" rtlCol="false" tIns="0" lIns="0" bIns="0" rIns="0">
            <a:spAutoFit/>
          </a:bodyPr>
          <a:lstStyle/>
          <a:p>
            <a:pPr algn="ctr">
              <a:lnSpc>
                <a:spcPts val="5599"/>
              </a:lnSpc>
              <a:spcBef>
                <a:spcPct val="0"/>
              </a:spcBef>
            </a:pPr>
            <a:r>
              <a:rPr lang="en-US" sz="3999">
                <a:solidFill>
                  <a:srgbClr val="992800"/>
                </a:solidFill>
                <a:latin typeface="TAN Ashford"/>
                <a:ea typeface="TAN Ashford"/>
                <a:cs typeface="TAN Ashford"/>
                <a:sym typeface="TAN Ashford"/>
              </a:rPr>
              <a:t>Conclusion</a:t>
            </a:r>
          </a:p>
        </p:txBody>
      </p:sp>
      <p:sp>
        <p:nvSpPr>
          <p:cNvPr name="TextBox 3" id="3"/>
          <p:cNvSpPr txBox="true"/>
          <p:nvPr/>
        </p:nvSpPr>
        <p:spPr>
          <a:xfrm rot="0">
            <a:off x="1028700" y="2196266"/>
            <a:ext cx="16122889" cy="3209924"/>
          </a:xfrm>
          <a:prstGeom prst="rect">
            <a:avLst/>
          </a:prstGeom>
        </p:spPr>
        <p:txBody>
          <a:bodyPr anchor="t" rtlCol="false" tIns="0" lIns="0" bIns="0" rIns="0">
            <a:spAutoFit/>
          </a:bodyPr>
          <a:lstStyle/>
          <a:p>
            <a:pPr algn="l">
              <a:lnSpc>
                <a:spcPts val="4200"/>
              </a:lnSpc>
              <a:spcBef>
                <a:spcPct val="0"/>
              </a:spcBef>
            </a:pPr>
            <a:r>
              <a:rPr lang="en-US" b="true" sz="3000">
                <a:solidFill>
                  <a:srgbClr val="000000"/>
                </a:solidFill>
                <a:latin typeface="Times New Roman Bold"/>
                <a:ea typeface="Times New Roman Bold"/>
                <a:cs typeface="Times New Roman Bold"/>
                <a:sym typeface="Times New Roman Bold"/>
              </a:rPr>
              <a:t>QuickShow succeeds in providing a smooth, up-to-date way to reserve movie tickets by integrating live seat picking, secure payment options and helpful organizing features. It vastly improves the whole experience of customers with rapid and easy ticket buying and at the same time, lets administrators have total authority over shows, seats and bookings. In this way, QuickShow turns out to be an easy-to-use and dependable platform for both the cinema fans and the movie house owners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FFBE1"/>
        </a:solidFill>
      </p:bgPr>
    </p:bg>
    <p:spTree>
      <p:nvGrpSpPr>
        <p:cNvPr id="1" name=""/>
        <p:cNvGrpSpPr/>
        <p:nvPr/>
      </p:nvGrpSpPr>
      <p:grpSpPr>
        <a:xfrm>
          <a:off x="0" y="0"/>
          <a:ext cx="0" cy="0"/>
          <a:chOff x="0" y="0"/>
          <a:chExt cx="0" cy="0"/>
        </a:xfrm>
      </p:grpSpPr>
      <p:sp>
        <p:nvSpPr>
          <p:cNvPr name="Freeform 2" id="2"/>
          <p:cNvSpPr/>
          <p:nvPr/>
        </p:nvSpPr>
        <p:spPr>
          <a:xfrm flipH="false" flipV="false" rot="-1346323">
            <a:off x="1121263" y="1042167"/>
            <a:ext cx="2202635" cy="1902526"/>
          </a:xfrm>
          <a:custGeom>
            <a:avLst/>
            <a:gdLst/>
            <a:ahLst/>
            <a:cxnLst/>
            <a:rect r="r" b="b" t="t" l="l"/>
            <a:pathLst>
              <a:path h="1902526" w="2202635">
                <a:moveTo>
                  <a:pt x="0" y="0"/>
                </a:moveTo>
                <a:lnTo>
                  <a:pt x="2202635" y="0"/>
                </a:lnTo>
                <a:lnTo>
                  <a:pt x="2202635" y="1902526"/>
                </a:lnTo>
                <a:lnTo>
                  <a:pt x="0" y="1902526"/>
                </a:lnTo>
                <a:lnTo>
                  <a:pt x="0" y="0"/>
                </a:lnTo>
                <a:close/>
              </a:path>
            </a:pathLst>
          </a:custGeom>
          <a:blipFill>
            <a:blip r:embed="rId2"/>
            <a:stretch>
              <a:fillRect l="0" t="0" r="0" b="0"/>
            </a:stretch>
          </a:blipFill>
        </p:spPr>
      </p:sp>
      <p:sp>
        <p:nvSpPr>
          <p:cNvPr name="Freeform 3" id="3"/>
          <p:cNvSpPr/>
          <p:nvPr/>
        </p:nvSpPr>
        <p:spPr>
          <a:xfrm flipH="false" flipV="false" rot="784897">
            <a:off x="-714821" y="-1369339"/>
            <a:ext cx="8834903" cy="13724121"/>
          </a:xfrm>
          <a:custGeom>
            <a:avLst/>
            <a:gdLst/>
            <a:ahLst/>
            <a:cxnLst/>
            <a:rect r="r" b="b" t="t" l="l"/>
            <a:pathLst>
              <a:path h="13724121" w="8834903">
                <a:moveTo>
                  <a:pt x="0" y="0"/>
                </a:moveTo>
                <a:lnTo>
                  <a:pt x="8834903" y="0"/>
                </a:lnTo>
                <a:lnTo>
                  <a:pt x="8834903" y="13724121"/>
                </a:lnTo>
                <a:lnTo>
                  <a:pt x="0" y="1372412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6400800" y="1993430"/>
            <a:ext cx="5486400" cy="4114800"/>
          </a:xfrm>
          <a:custGeom>
            <a:avLst/>
            <a:gdLst/>
            <a:ahLst/>
            <a:cxnLst/>
            <a:rect r="r" b="b" t="t" l="l"/>
            <a:pathLst>
              <a:path h="4114800" w="5486400">
                <a:moveTo>
                  <a:pt x="0" y="0"/>
                </a:moveTo>
                <a:lnTo>
                  <a:pt x="5486400" y="0"/>
                </a:lnTo>
                <a:lnTo>
                  <a:pt x="5486400"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1237067">
            <a:off x="12615356" y="-963482"/>
            <a:ext cx="5184643" cy="9426624"/>
          </a:xfrm>
          <a:custGeom>
            <a:avLst/>
            <a:gdLst/>
            <a:ahLst/>
            <a:cxnLst/>
            <a:rect r="r" b="b" t="t" l="l"/>
            <a:pathLst>
              <a:path h="9426624" w="5184643">
                <a:moveTo>
                  <a:pt x="0" y="0"/>
                </a:moveTo>
                <a:lnTo>
                  <a:pt x="5184643" y="0"/>
                </a:lnTo>
                <a:lnTo>
                  <a:pt x="5184643" y="9426624"/>
                </a:lnTo>
                <a:lnTo>
                  <a:pt x="0" y="942662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6" id="6"/>
          <p:cNvSpPr txBox="true"/>
          <p:nvPr/>
        </p:nvSpPr>
        <p:spPr>
          <a:xfrm rot="0">
            <a:off x="2761628" y="6592354"/>
            <a:ext cx="12764744" cy="1295400"/>
          </a:xfrm>
          <a:prstGeom prst="rect">
            <a:avLst/>
          </a:prstGeom>
        </p:spPr>
        <p:txBody>
          <a:bodyPr anchor="t" rtlCol="false" tIns="0" lIns="0" bIns="0" rIns="0">
            <a:spAutoFit/>
          </a:bodyPr>
          <a:lstStyle/>
          <a:p>
            <a:pPr algn="ctr">
              <a:lnSpc>
                <a:spcPts val="10500"/>
              </a:lnSpc>
              <a:spcBef>
                <a:spcPct val="0"/>
              </a:spcBef>
            </a:pPr>
            <a:r>
              <a:rPr lang="en-US" sz="7500">
                <a:solidFill>
                  <a:srgbClr val="992800"/>
                </a:solidFill>
                <a:latin typeface="TAN Ashford"/>
                <a:ea typeface="TAN Ashford"/>
                <a:cs typeface="TAN Ashford"/>
                <a:sym typeface="TAN Ashford"/>
              </a:rPr>
              <a:t>Thank you!</a:t>
            </a:r>
          </a:p>
        </p:txBody>
      </p:sp>
      <p:sp>
        <p:nvSpPr>
          <p:cNvPr name="Freeform 7" id="7"/>
          <p:cNvSpPr/>
          <p:nvPr/>
        </p:nvSpPr>
        <p:spPr>
          <a:xfrm flipH="false" flipV="false" rot="784897">
            <a:off x="-562421" y="-1216939"/>
            <a:ext cx="8834903" cy="13724121"/>
          </a:xfrm>
          <a:custGeom>
            <a:avLst/>
            <a:gdLst/>
            <a:ahLst/>
            <a:cxnLst/>
            <a:rect r="r" b="b" t="t" l="l"/>
            <a:pathLst>
              <a:path h="13724121" w="8834903">
                <a:moveTo>
                  <a:pt x="0" y="0"/>
                </a:moveTo>
                <a:lnTo>
                  <a:pt x="8834903" y="0"/>
                </a:lnTo>
                <a:lnTo>
                  <a:pt x="8834903" y="13724121"/>
                </a:lnTo>
                <a:lnTo>
                  <a:pt x="0" y="1372412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DAHHFnDDFyU</dc:identifier>
  <dcterms:modified xsi:type="dcterms:W3CDTF">2011-08-01T06:04:30Z</dcterms:modified>
  <cp:revision>1</cp:revision>
  <dc:title>QuickShow-Presentation</dc:title>
</cp:coreProperties>
</file>